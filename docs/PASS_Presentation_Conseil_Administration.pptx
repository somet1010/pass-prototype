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Programme d'Accès aux Smartphones Subventionnés (PASS) — plateforme numérique de gestion de l'ANSUT, de l'enrôlement du bénéficiaire jusqu'à la preuve de remise du terminal. Version prototype de démonstration : les vérifications aux référentiels nationaux y sont simulées, aucune donnée réelle n'est traitée.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L'ANSUT porte le service universel des télécommunications. Le Programme d'Accès aux Smartphones Subventionnés met un smartphone entre les mains des bénéficiaires des programmes sociaux — un smartphone est aujourd'hui la porte d'entrée vers l'école, la santé, les services publics et l'inclusion financière. La plateforme repose sur quatre exigences : VÉRIFIER (identité, éligibilité, non-cumul, périmètre), PROUVER (chaque remise est tracée et opposable), INCLURE (les publics ruraux, non connectés ou analphabètes ne sont jamais exclus), PILOTER (stocks, délais et conformité suivis en temps réel).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plateforme couvre toute la chaîne : enrôlement assisté en moins d'une minute ; vérification d'éligibilité aux référentiels ONECI, RSU, opérateurs mobiles et registre IMEI ; décision tracée (validée ou refusée avec motif, unique et irréversible) ; remise du terminal avec IMEI, reçu et dossier probant ; pilotage des stocks et de l'audit. Le socle technique garantit l'intégrité : les règles sont inscrites dans la base de données, l'authentification des agents est par rôle, le journal d'audit est inaltérable, et les intégrations ANSUT (Hub et Cryptologie) sont raccordées.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parcours suit cinq étapes : (1) Enrôlement — scan des pièces, saisie assistée, consentement signé, en moins d'une minute ; (2) Vérification — contrôles ONECI, RSU, opérateurs et IMEI ; (3) Décision — éligible, à instruire ou refus motivé, réponse sous 12 h ; (4) Remise — terminal, IMEI, orientation vers le centre le plus proche disposant de stock ; (5) Reçu &amp; cachet — reçu bénéficiaire et dossier probant scellé. Chaque étape alimente le dossier probant ; la décision et le non-cumul sont garantis en base, donc impossibles à contourner.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Écran d'accueil de l'agent : la mission de service public est rappelée en tête, suivie des indicateurs du jour (bénéficiaires enrôlés, délai moyen d'enrôlement, dossiers à instruire, terminaux remis) et du fil du parcours qui situe chaque dossier dans la chaîne. L'agent voit immédiatement où agir.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Enrôlement assisté : l'agent scanne les pièces disponibles (CNI — d'où le NNI, carte CMU, photo) et le dossier se pré-remplit automatiquement. Un chronomètre matérialise l'objectif « moins d'une minute ». Le consentement du bénéficiaire est recueilli par signature manuscrite — ou par témoin si la personne est analphabète, pour ne personne exclure.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Vérification d'éligibilité : quatre contrôles (ONECI pour l'identité, RSU pour l'éligibilité sociale, les opérateurs pour la ligne mobile, le registre IMEI pour le terminal). Le panneau « base des opérateurs » interroge Orange, MTN et Moov — chacun affiché à sa propre couleur de marque pour éviter toute confusion. L'agent conclut : valider, mettre en instruction, ou refuser avec motif. Dans le prototype, ces contrôles sont SIMULÉS ; la décision et le non-cumul, eux, sont bien effectifs en 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Stock et points de retrait : une cartographie situe les centres sur le territoire (Abidjan, Bouaké, Korhogo, Man, Odienné…). Le bénéficiaire éligible est orienté vers le centre le plus proche disposant de stock. Chaque centre affiche son stock, un seuil d'alerte et son gestionnaire ; un réassort entre centres est possible.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Reçu et preuve : le bénéficiaire repart avec un reçu simplifié (avec QR de suivi), tandis que le dossier probant complet est conservé séparément. La preuve de remise et la décision sont scellées par un cachet électronique — empreinte SHA-256 du document plus signature horodatée via la Cryptologie ANSUT — qui rend toute altération détectable et le dossier opposable.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Supervision et conformité : les délais de service (SLA) sont suivis en continu — enrôlement (&lt; 1 min), réponse (&lt; 12 h), remise. Le journal d'audit est inaltérable (en ajout seul) et chaque acte est horodaté. Les règles critiques (non-cumul, décision unique, quota) sont garanties par la base.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Logistique — chaîne d'approvisionnement complète, du fournisseur au bénéficiaire, avec traçabilité par IMEI : (1) commande au fournisseur ; (2) arrivage et liste de colisage ; (3) réception des colis par scan avec détection des écarts ; (4) rangement en entrepôt par emplacement ; (5) transfert (bon de sortie) vers un point ; (6) ouverture d'un point PASS mobile et paramétrage de l'équipe ; (7) mission de terrain géolocalisée ; (8) rapport de mission. Chaque déplacement de stock est journalisé et toutes les écritures sont réservées au superviseur.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Tableau de bord logistique : colis attendus / reçus, écarts à vérifier, stock en entrepôt et aux points, nombre de points mobiles. En dessous, l'état du stock par lieu et par modèle, et le journal des derniers mouvements (réception, rangement, transfert, retour).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Commandes fournisseurs : création d'un bon de commande (fournisseur, lignes modèle/quantité/prix unitaire, montant total calculé), puis suivi du cycle de vie (brouillon → envoyée → confirmée → livrée). L'arrivage réel se rattache ensuite à la commande d'origine pour le rapprochement commandé / livré.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Garanties de confiance : un contrôle affiché à l'écran peut être contourné ; une règle inscrite en base ne l'est pas — même un appel technique direct est rejeté. Sont garantis : non-cumul (une demande par personne et par campagne), décision irréversible, unicité de la CNI et de l'IMEI, preuve de remise obligatoire, respect du quota, et journal d'audit en ajout seul. C'est le socle de l'intégrité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Intégrations institutionnelles : la plateforme réutilise les passerelles ANSUT déjà en service. ANSUT Hub (messagerie) notifie réellement le bénéficiaire ou son contact — SMS, e-mail, WhatsApp — du lieu de retrait et de la décision, avec repli par convocation papier pour l'inclusion. La Cryptologie ANSUT scelle les pièces probantes. La chaîne est réelle : elle bascule en mode « réel » dès que les accès sont fournis, et reste en mode « simulé » sinon, sans jamais bloquer le parcours.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Positionnement visuel : la charte ANSUT (bleu + orange) est proche de Moov, et l'orange est celui d'Orange CI. Une piste est une interface neutre (achromatique) : le logo reste la seule marque, et les opérateurs — chacun à sa couleur — ressortent. Le neutre exprime l'impartialité de l'Agence, qui arbitre au-dessus des opérateurs plutôt que de leur ressembler. À trancher par le Conseil.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Périmètre du prototype. Démontré : le parcours complet, les règles effectives en base, l'audit inaltérable, les stocks et la cartographie, la chaîne d'intégration Hub + Cryptologie. À raccorder ou arbitrer : les accès réels aux référentiels (ONECI, RSU, opérateurs, IMEI) aujourd'hui SIMULÉS, les identifiants des passerelles, l'hébergement souverain et l'homologation, la chaîne de preuve matérielle. Aucune donnée réelle n'est traitée à ce stade.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Prochaines étapes, du prototype au pilote : (1) signer les conventions d'accès aux référentiels pour passer les vérifications en réel ; (2) fournir les identifiants des passerelles Hub et Cryptologie — bascule immédiate en mode réel ; (3) héberger et homologuer la plateforme selon les exigences de l'État ; (4) déployer sur un centre pilote, mesurer les délais et l'inclusion, puis étendre.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plateforme au service de l'inclusion numérique : vérifiée, prouvée, inclusive. Merci.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3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42832" y="6169274"/>
            <a:ext cx="153619" cy="15361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051150" y="6179942"/>
            <a:ext cx="153619" cy="15361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55306" y="6211538"/>
            <a:ext cx="153619" cy="15361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251297" y="6262846"/>
            <a:ext cx="153619" cy="15361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35434" y="6331895"/>
            <a:ext cx="153619" cy="15361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04483" y="6416032"/>
            <a:ext cx="153619" cy="15361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455791" y="6512023"/>
            <a:ext cx="153619" cy="15361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487387" y="6616179"/>
            <a:ext cx="153619" cy="153619"/>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498055" y="6724497"/>
            <a:ext cx="153619" cy="153619"/>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42832" y="5705125"/>
            <a:ext cx="213969" cy="21396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29928" y="5723552"/>
            <a:ext cx="213969" cy="21396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309834" y="5778126"/>
            <a:ext cx="213969" cy="21396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475636" y="5866749"/>
            <a:ext cx="213969" cy="21396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20963" y="5986016"/>
            <a:ext cx="213969" cy="21396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740230" y="6131343"/>
            <a:ext cx="213969" cy="21396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828853" y="6297145"/>
            <a:ext cx="213969" cy="213969"/>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883427" y="6477051"/>
            <a:ext cx="213969" cy="213969"/>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01854" y="6664147"/>
            <a:ext cx="213969" cy="213969"/>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942832" y="5240975"/>
            <a:ext cx="274320" cy="2743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208705" y="5267161"/>
            <a:ext cx="274320" cy="2743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64361" y="5344713"/>
            <a:ext cx="274320" cy="2743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699975" y="5470652"/>
            <a:ext cx="274320" cy="2743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906492" y="5640136"/>
            <a:ext cx="274320" cy="2743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75976" y="5846653"/>
            <a:ext cx="274320" cy="2743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201915" y="6082267"/>
            <a:ext cx="274320" cy="2743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79467" y="6337923"/>
            <a:ext cx="274320" cy="27432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05653" y="6603796"/>
            <a:ext cx="274320" cy="27432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942832" y="4776826"/>
            <a:ext cx="334670" cy="33467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287482" y="4810771"/>
            <a:ext cx="334670" cy="33467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18888" y="4911302"/>
            <a:ext cx="334670" cy="33467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24313" y="5074555"/>
            <a:ext cx="334670" cy="33467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192021" y="5294257"/>
            <a:ext cx="334670" cy="33467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411723" y="5561965"/>
            <a:ext cx="334670" cy="33467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574976" y="5867390"/>
            <a:ext cx="334670" cy="33467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75507" y="6198796"/>
            <a:ext cx="334670" cy="33467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709452" y="6543446"/>
            <a:ext cx="334670" cy="33467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942832" y="4312677"/>
            <a:ext cx="395020" cy="3950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366259" y="4354381"/>
            <a:ext cx="395020" cy="3950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773415" y="4477890"/>
            <a:ext cx="395020" cy="3950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148652" y="4678458"/>
            <a:ext cx="395020" cy="3950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77550" y="4948378"/>
            <a:ext cx="395020" cy="3950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747470" y="5277276"/>
            <a:ext cx="395020" cy="3950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948038" y="5652513"/>
            <a:ext cx="395020" cy="39502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071547" y="6059669"/>
            <a:ext cx="395020" cy="39502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113251" y="6483096"/>
            <a:ext cx="395020" cy="39502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778240" y="4480560"/>
            <a:ext cx="3566160" cy="265176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54506" y="1192351"/>
            <a:ext cx="29443" cy="29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75267" y="1194395"/>
            <a:ext cx="29443" cy="29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95230" y="1200451"/>
            <a:ext cx="29443" cy="29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13628" y="1210285"/>
            <a:ext cx="29443" cy="29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29754" y="1223520"/>
            <a:ext cx="29443" cy="29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42989" y="1239646"/>
            <a:ext cx="29443" cy="29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52823" y="1258044"/>
            <a:ext cx="29443" cy="2944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58879" y="1278007"/>
            <a:ext cx="29443" cy="29443"/>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60923" y="1298768"/>
            <a:ext cx="29443" cy="29443"/>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54506" y="1103389"/>
            <a:ext cx="41010" cy="41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90366" y="1106921"/>
            <a:ext cx="41010" cy="41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24848" y="1117381"/>
            <a:ext cx="41010" cy="41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56626" y="1134367"/>
            <a:ext cx="41010" cy="41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84481" y="1157226"/>
            <a:ext cx="41010" cy="41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07340" y="1185081"/>
            <a:ext cx="41010" cy="41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24326" y="1216859"/>
            <a:ext cx="41010" cy="410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34786" y="1251341"/>
            <a:ext cx="41010" cy="4101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38318" y="1287201"/>
            <a:ext cx="41010" cy="4101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54506" y="1014427"/>
            <a:ext cx="52577" cy="5257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905465" y="1019446"/>
            <a:ext cx="52577" cy="5257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54465" y="1034310"/>
            <a:ext cx="52577" cy="5257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99625" y="1058448"/>
            <a:ext cx="52577" cy="5257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039207" y="1090933"/>
            <a:ext cx="52577" cy="5257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71692" y="1130515"/>
            <a:ext cx="52577" cy="5257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95830" y="1175675"/>
            <a:ext cx="52577" cy="5257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10694" y="1224675"/>
            <a:ext cx="52577" cy="52577"/>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15713" y="1275634"/>
            <a:ext cx="52577" cy="52577"/>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54506" y="925464"/>
            <a:ext cx="64145" cy="641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20564" y="931970"/>
            <a:ext cx="64145" cy="641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984083" y="951239"/>
            <a:ext cx="64145" cy="641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42623" y="982529"/>
            <a:ext cx="64145" cy="641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93933" y="1024639"/>
            <a:ext cx="64145" cy="641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136043" y="1075949"/>
            <a:ext cx="64145" cy="641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167333" y="1134489"/>
            <a:ext cx="64145" cy="6414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86602" y="1198008"/>
            <a:ext cx="64145" cy="64145"/>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193108" y="1264066"/>
            <a:ext cx="64145" cy="64145"/>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54506" y="836502"/>
            <a:ext cx="75712" cy="757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935663" y="844496"/>
            <a:ext cx="75712" cy="757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013701" y="868168"/>
            <a:ext cx="75712" cy="757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085621" y="906611"/>
            <a:ext cx="75712" cy="757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148660" y="958345"/>
            <a:ext cx="75712" cy="757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00394" y="1021384"/>
            <a:ext cx="75712" cy="757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238837" y="1093304"/>
            <a:ext cx="75712" cy="757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262509" y="1171342"/>
            <a:ext cx="75712" cy="75712"/>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270503" y="1252499"/>
            <a:ext cx="75712" cy="75712"/>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580083" y="847649"/>
            <a:ext cx="5486400" cy="525780"/>
          </a:xfrm>
          <a:prstGeom prst="rect">
            <a:avLst/>
          </a:prstGeom>
          <a:noFill/>
        </p:spPr>
        <p:txBody>
          <a:bodyPr wrap="square" anchor="t" lIns="0" rIns="0" tIns="0" bIns="0">
            <a:spAutoFit/>
          </a:bodyPr>
          <a:lstStyle/>
          <a:p>
            <a:pPr algn="l">
              <a:lnSpc>
                <a:spcPct val="100000"/>
              </a:lnSpc>
              <a:spcBef>
                <a:spcPts val="0"/>
              </a:spcBef>
              <a:spcAft>
                <a:spcPts val="400"/>
              </a:spcAft>
            </a:pPr>
            <a:r>
              <a:rPr sz="2990" b="1">
                <a:solidFill>
                  <a:srgbClr val="FFFFFF"/>
                </a:solidFill>
                <a:latin typeface="Avenir Next"/>
              </a:rPr>
              <a:t>ANSUT</a:t>
            </a:r>
          </a:p>
        </p:txBody>
      </p:sp>
      <p:sp>
        <p:nvSpPr>
          <p:cNvPr id="96" name="TextBox 95"/>
          <p:cNvSpPr txBox="1"/>
          <p:nvPr/>
        </p:nvSpPr>
        <p:spPr>
          <a:xfrm>
            <a:off x="1572768" y="1207008"/>
            <a:ext cx="822960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a:solidFill>
                  <a:srgbClr val="CFE0F5"/>
                </a:solidFill>
                <a:latin typeface="Avenir Next"/>
              </a:rPr>
              <a:t>Agence Nationale du Service Universel des Télécommunications/TIC</a:t>
            </a:r>
          </a:p>
        </p:txBody>
      </p:sp>
      <p:sp>
        <p:nvSpPr>
          <p:cNvPr id="97" name="TextBox 96"/>
          <p:cNvSpPr txBox="1"/>
          <p:nvPr/>
        </p:nvSpPr>
        <p:spPr>
          <a:xfrm>
            <a:off x="822960" y="2514600"/>
            <a:ext cx="10424160" cy="2011680"/>
          </a:xfrm>
          <a:prstGeom prst="rect">
            <a:avLst/>
          </a:prstGeom>
          <a:noFill/>
        </p:spPr>
        <p:txBody>
          <a:bodyPr wrap="square" anchor="t" lIns="0" rIns="0" tIns="0" bIns="0">
            <a:spAutoFit/>
          </a:bodyPr>
          <a:lstStyle/>
          <a:p>
            <a:pPr algn="l">
              <a:lnSpc>
                <a:spcPct val="102000"/>
              </a:lnSpc>
              <a:spcBef>
                <a:spcPts val="0"/>
              </a:spcBef>
              <a:spcAft>
                <a:spcPts val="400"/>
              </a:spcAft>
            </a:pPr>
            <a:r>
              <a:rPr sz="4000" b="1">
                <a:solidFill>
                  <a:srgbClr val="FFFFFF"/>
                </a:solidFill>
                <a:latin typeface="Avenir Next"/>
              </a:rPr>
              <a:t>Programme d'Accès aux</a:t>
            </a:r>
          </a:p>
          <a:p>
            <a:pPr algn="l">
              <a:lnSpc>
                <a:spcPct val="102000"/>
              </a:lnSpc>
              <a:spcBef>
                <a:spcPts val="0"/>
              </a:spcBef>
              <a:spcAft>
                <a:spcPts val="400"/>
              </a:spcAft>
            </a:pPr>
            <a:r>
              <a:rPr sz="4000" b="1">
                <a:solidFill>
                  <a:srgbClr val="FFFFFF"/>
                </a:solidFill>
                <a:latin typeface="Avenir Next"/>
              </a:rPr>
              <a:t>Smartphones Subventionnés</a:t>
            </a:r>
          </a:p>
        </p:txBody>
      </p:sp>
      <p:sp>
        <p:nvSpPr>
          <p:cNvPr id="98" name="Rounded Rectangle 97"/>
          <p:cNvSpPr/>
          <p:nvPr/>
        </p:nvSpPr>
        <p:spPr>
          <a:xfrm>
            <a:off x="841248" y="4224528"/>
            <a:ext cx="1051560" cy="310896"/>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050" b="1">
                <a:solidFill>
                  <a:srgbClr val="FFFFFF"/>
                </a:solidFill>
                <a:latin typeface="Avenir Next"/>
              </a:rPr>
              <a:t>PASS</a:t>
            </a:r>
          </a:p>
        </p:txBody>
      </p:sp>
      <p:sp>
        <p:nvSpPr>
          <p:cNvPr id="99" name="TextBox 98"/>
          <p:cNvSpPr txBox="1"/>
          <p:nvPr/>
        </p:nvSpPr>
        <p:spPr>
          <a:xfrm>
            <a:off x="868680" y="4892040"/>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550" b="0">
                <a:solidFill>
                  <a:srgbClr val="DBE7F7"/>
                </a:solidFill>
                <a:latin typeface="Avenir Next"/>
              </a:rPr>
              <a:t>Plateforme numérique de gestion — de l'enrôlement à la preuve de remise</a:t>
            </a:r>
          </a:p>
        </p:txBody>
      </p:sp>
      <p:sp>
        <p:nvSpPr>
          <p:cNvPr id="100" name="Rectangle 99"/>
          <p:cNvSpPr/>
          <p:nvPr/>
        </p:nvSpPr>
        <p:spPr>
          <a:xfrm>
            <a:off x="868680" y="5468112"/>
            <a:ext cx="2926080" cy="2540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68680" y="5669280"/>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a:solidFill>
                  <a:srgbClr val="FFFFFF"/>
                </a:solidFill>
                <a:latin typeface="Avenir Next"/>
              </a:rPr>
              <a:t>Présentation au Conseil d'Administration</a:t>
            </a:r>
          </a:p>
        </p:txBody>
      </p:sp>
      <p:sp>
        <p:nvSpPr>
          <p:cNvPr id="102" name="TextBox 101"/>
          <p:cNvSpPr txBox="1"/>
          <p:nvPr/>
        </p:nvSpPr>
        <p:spPr>
          <a:xfrm>
            <a:off x="868680" y="6053328"/>
            <a:ext cx="10058400" cy="365760"/>
          </a:xfrm>
          <a:prstGeom prst="rect">
            <a:avLst/>
          </a:prstGeom>
          <a:noFill/>
        </p:spPr>
        <p:txBody>
          <a:bodyPr wrap="square" anchor="t" lIns="0" rIns="0" tIns="0" bIns="0">
            <a:spAutoFit/>
          </a:bodyPr>
          <a:lstStyle/>
          <a:p>
            <a:pPr algn="l">
              <a:lnSpc>
                <a:spcPct val="100000"/>
              </a:lnSpc>
              <a:spcBef>
                <a:spcPts val="0"/>
              </a:spcBef>
              <a:spcAft>
                <a:spcPts val="400"/>
              </a:spcAft>
            </a:pPr>
            <a:r>
              <a:rPr sz="1050" b="0">
                <a:solidFill>
                  <a:srgbClr val="9FB3D4"/>
                </a:solidFill>
                <a:latin typeface="Avenir Next"/>
              </a:rPr>
              <a:t>Prototype de démonstration · vérifications aux référentiels nationales simulées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Notre mission de service public</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Réduire la fracture numérique — sans exclure les plus vulnérables</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02</a:t>
            </a:r>
          </a:p>
        </p:txBody>
      </p:sp>
      <p:sp>
        <p:nvSpPr>
          <p:cNvPr id="10" name="TextBox 9"/>
          <p:cNvSpPr txBox="1"/>
          <p:nvPr/>
        </p:nvSpPr>
        <p:spPr>
          <a:xfrm>
            <a:off x="749808" y="1481328"/>
            <a:ext cx="10698480" cy="640080"/>
          </a:xfrm>
          <a:prstGeom prst="rect">
            <a:avLst/>
          </a:prstGeom>
          <a:noFill/>
        </p:spPr>
        <p:txBody>
          <a:bodyPr wrap="square" anchor="t" lIns="0" rIns="0" tIns="0" bIns="0">
            <a:spAutoFit/>
          </a:bodyPr>
          <a:lstStyle/>
          <a:p>
            <a:pPr algn="l">
              <a:lnSpc>
                <a:spcPct val="115000"/>
              </a:lnSpc>
              <a:spcBef>
                <a:spcPts val="0"/>
              </a:spcBef>
              <a:spcAft>
                <a:spcPts val="400"/>
              </a:spcAft>
            </a:pPr>
            <a:r>
              <a:rPr sz="1400" b="0">
                <a:solidFill>
                  <a:srgbClr val="5B6577"/>
                </a:solidFill>
                <a:latin typeface="Avenir Next"/>
              </a:rPr>
              <a:t>L'ANSUT porte le service universel. Le Programme d'Accès aux Smartphones Subventionnés met un smartphone entre les mains des bénéficiaires des programmes sociaux — condition d'accès à l'école, la santé, les services publics et l'inclusion financière.</a:t>
            </a:r>
          </a:p>
        </p:txBody>
      </p:sp>
      <p:sp>
        <p:nvSpPr>
          <p:cNvPr id="11" name="Rounded Rectangle 10"/>
          <p:cNvSpPr/>
          <p:nvPr/>
        </p:nvSpPr>
        <p:spPr>
          <a:xfrm>
            <a:off x="749808" y="2651760"/>
            <a:ext cx="2670048" cy="246888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2926080"/>
            <a:ext cx="457200" cy="457200"/>
          </a:xfrm>
          <a:prstGeom prst="roundRect">
            <a:avLst>
              <a:gd name="adj" fmla="val 6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62656"/>
            <a:ext cx="457200"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2256A3"/>
                </a:solidFill>
                <a:latin typeface="Avenir Next"/>
              </a:rPr>
              <a:t>1</a:t>
            </a:r>
          </a:p>
        </p:txBody>
      </p:sp>
      <p:sp>
        <p:nvSpPr>
          <p:cNvPr id="14" name="TextBox 13"/>
          <p:cNvSpPr txBox="1"/>
          <p:nvPr/>
        </p:nvSpPr>
        <p:spPr>
          <a:xfrm>
            <a:off x="1005840" y="3566160"/>
            <a:ext cx="2212848"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1">
                <a:solidFill>
                  <a:srgbClr val="1A4382"/>
                </a:solidFill>
                <a:latin typeface="Avenir Next"/>
              </a:rPr>
              <a:t>Vérifier</a:t>
            </a:r>
          </a:p>
        </p:txBody>
      </p:sp>
      <p:sp>
        <p:nvSpPr>
          <p:cNvPr id="15" name="TextBox 14"/>
          <p:cNvSpPr txBox="1"/>
          <p:nvPr/>
        </p:nvSpPr>
        <p:spPr>
          <a:xfrm>
            <a:off x="1005840" y="3977640"/>
            <a:ext cx="2157984"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a:solidFill>
                  <a:srgbClr val="5B6577"/>
                </a:solidFill>
                <a:latin typeface="Avenir Next"/>
              </a:rPr>
              <a:t>Identité, éligibilité, non-cumul et périmètre — avant toute subvention.</a:t>
            </a:r>
          </a:p>
        </p:txBody>
      </p:sp>
      <p:sp>
        <p:nvSpPr>
          <p:cNvPr id="16" name="Rounded Rectangle 15"/>
          <p:cNvSpPr/>
          <p:nvPr/>
        </p:nvSpPr>
        <p:spPr>
          <a:xfrm>
            <a:off x="3566160" y="2651760"/>
            <a:ext cx="2670048" cy="246888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822192" y="2926080"/>
            <a:ext cx="457200" cy="457200"/>
          </a:xfrm>
          <a:prstGeom prst="roundRect">
            <a:avLst>
              <a:gd name="adj" fmla="val 6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2192" y="2962656"/>
            <a:ext cx="457200"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2256A3"/>
                </a:solidFill>
                <a:latin typeface="Avenir Next"/>
              </a:rPr>
              <a:t>2</a:t>
            </a:r>
          </a:p>
        </p:txBody>
      </p:sp>
      <p:sp>
        <p:nvSpPr>
          <p:cNvPr id="19" name="TextBox 18"/>
          <p:cNvSpPr txBox="1"/>
          <p:nvPr/>
        </p:nvSpPr>
        <p:spPr>
          <a:xfrm>
            <a:off x="3822192" y="3566160"/>
            <a:ext cx="2212848"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1">
                <a:solidFill>
                  <a:srgbClr val="1A4382"/>
                </a:solidFill>
                <a:latin typeface="Avenir Next"/>
              </a:rPr>
              <a:t>Prouver</a:t>
            </a:r>
          </a:p>
        </p:txBody>
      </p:sp>
      <p:sp>
        <p:nvSpPr>
          <p:cNvPr id="20" name="TextBox 19"/>
          <p:cNvSpPr txBox="1"/>
          <p:nvPr/>
        </p:nvSpPr>
        <p:spPr>
          <a:xfrm>
            <a:off x="3822192" y="3977640"/>
            <a:ext cx="2157984"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a:solidFill>
                  <a:srgbClr val="5B6577"/>
                </a:solidFill>
                <a:latin typeface="Avenir Next"/>
              </a:rPr>
              <a:t>Chaque remise est tracée et scellée : dossier probant opposable.</a:t>
            </a:r>
          </a:p>
        </p:txBody>
      </p:sp>
      <p:sp>
        <p:nvSpPr>
          <p:cNvPr id="21" name="Rounded Rectangle 20"/>
          <p:cNvSpPr/>
          <p:nvPr/>
        </p:nvSpPr>
        <p:spPr>
          <a:xfrm>
            <a:off x="6382512" y="2651760"/>
            <a:ext cx="2670048" cy="246888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638544" y="2926080"/>
            <a:ext cx="457200" cy="457200"/>
          </a:xfrm>
          <a:prstGeom prst="roundRect">
            <a:avLst>
              <a:gd name="adj" fmla="val 6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38544" y="2962656"/>
            <a:ext cx="457200"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2256A3"/>
                </a:solidFill>
                <a:latin typeface="Avenir Next"/>
              </a:rPr>
              <a:t>3</a:t>
            </a:r>
          </a:p>
        </p:txBody>
      </p:sp>
      <p:sp>
        <p:nvSpPr>
          <p:cNvPr id="24" name="TextBox 23"/>
          <p:cNvSpPr txBox="1"/>
          <p:nvPr/>
        </p:nvSpPr>
        <p:spPr>
          <a:xfrm>
            <a:off x="6638544" y="3566160"/>
            <a:ext cx="2212848"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1">
                <a:solidFill>
                  <a:srgbClr val="1A4382"/>
                </a:solidFill>
                <a:latin typeface="Avenir Next"/>
              </a:rPr>
              <a:t>Inclure</a:t>
            </a:r>
          </a:p>
        </p:txBody>
      </p:sp>
      <p:sp>
        <p:nvSpPr>
          <p:cNvPr id="25" name="TextBox 24"/>
          <p:cNvSpPr txBox="1"/>
          <p:nvPr/>
        </p:nvSpPr>
        <p:spPr>
          <a:xfrm>
            <a:off x="6638544" y="3977640"/>
            <a:ext cx="2157984"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a:solidFill>
                  <a:srgbClr val="5B6577"/>
                </a:solidFill>
                <a:latin typeface="Avenir Next"/>
              </a:rPr>
              <a:t>Rural, non connecté, analphabète : personne n'est exclu du dispositif.</a:t>
            </a:r>
          </a:p>
        </p:txBody>
      </p:sp>
      <p:sp>
        <p:nvSpPr>
          <p:cNvPr id="26" name="Rounded Rectangle 25"/>
          <p:cNvSpPr/>
          <p:nvPr/>
        </p:nvSpPr>
        <p:spPr>
          <a:xfrm>
            <a:off x="9198864" y="2651760"/>
            <a:ext cx="2670048" cy="246888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54896" y="2926080"/>
            <a:ext cx="457200" cy="457200"/>
          </a:xfrm>
          <a:prstGeom prst="roundRect">
            <a:avLst>
              <a:gd name="adj" fmla="val 6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54896" y="2962656"/>
            <a:ext cx="457200"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2256A3"/>
                </a:solidFill>
                <a:latin typeface="Avenir Next"/>
              </a:rPr>
              <a:t>4</a:t>
            </a:r>
          </a:p>
        </p:txBody>
      </p:sp>
      <p:sp>
        <p:nvSpPr>
          <p:cNvPr id="29" name="TextBox 28"/>
          <p:cNvSpPr txBox="1"/>
          <p:nvPr/>
        </p:nvSpPr>
        <p:spPr>
          <a:xfrm>
            <a:off x="9454896" y="3566160"/>
            <a:ext cx="2212848" cy="365760"/>
          </a:xfrm>
          <a:prstGeom prst="rect">
            <a:avLst/>
          </a:prstGeom>
          <a:noFill/>
        </p:spPr>
        <p:txBody>
          <a:bodyPr wrap="square" anchor="t" lIns="0" rIns="0" tIns="0" bIns="0">
            <a:spAutoFit/>
          </a:bodyPr>
          <a:lstStyle/>
          <a:p>
            <a:pPr algn="l">
              <a:lnSpc>
                <a:spcPct val="100000"/>
              </a:lnSpc>
              <a:spcBef>
                <a:spcPts val="0"/>
              </a:spcBef>
              <a:spcAft>
                <a:spcPts val="400"/>
              </a:spcAft>
            </a:pPr>
            <a:r>
              <a:rPr sz="1700" b="1">
                <a:solidFill>
                  <a:srgbClr val="1A4382"/>
                </a:solidFill>
                <a:latin typeface="Avenir Next"/>
              </a:rPr>
              <a:t>Piloter</a:t>
            </a:r>
          </a:p>
        </p:txBody>
      </p:sp>
      <p:sp>
        <p:nvSpPr>
          <p:cNvPr id="30" name="TextBox 29"/>
          <p:cNvSpPr txBox="1"/>
          <p:nvPr/>
        </p:nvSpPr>
        <p:spPr>
          <a:xfrm>
            <a:off x="9454896" y="3977640"/>
            <a:ext cx="2157984"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a:solidFill>
                  <a:srgbClr val="5B6577"/>
                </a:solidFill>
                <a:latin typeface="Avenir Next"/>
              </a:rPr>
              <a:t>Stocks, délais, audit et conformité en temps réel pour l'Agence.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La plateforme en bref</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Une chaîne unique, de l'enrôlement à la preuve de remise</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03</a:t>
            </a:r>
          </a:p>
        </p:txBody>
      </p:sp>
      <p:sp>
        <p:nvSpPr>
          <p:cNvPr id="10" name="TextBox 9"/>
          <p:cNvSpPr txBox="1"/>
          <p:nvPr/>
        </p:nvSpPr>
        <p:spPr>
          <a:xfrm>
            <a:off x="749808" y="1481328"/>
            <a:ext cx="6583680" cy="3200400"/>
          </a:xfrm>
          <a:prstGeom prst="rect">
            <a:avLst/>
          </a:prstGeom>
          <a:noFill/>
        </p:spPr>
        <p:txBody>
          <a:bodyPr wrap="square" anchor="t" lIns="0" rIns="0" tIns="0" bIns="0">
            <a:spAutoFit/>
          </a:bodyPr>
          <a:lstStyle/>
          <a:p>
            <a:pPr algn="l">
              <a:lnSpc>
                <a:spcPct val="100000"/>
              </a:lnSpc>
              <a:spcBef>
                <a:spcPts val="0"/>
              </a:spcBef>
              <a:spcAft>
                <a:spcPts val="800"/>
              </a:spcAft>
            </a:pPr>
            <a:r>
              <a:rPr sz="1500" b="1">
                <a:solidFill>
                  <a:srgbClr val="1A4382"/>
                </a:solidFill>
                <a:latin typeface="Avenir Next"/>
              </a:rPr>
              <a:t>Ce que fait la plateforme</a:t>
            </a:r>
          </a:p>
        </p:txBody>
      </p:sp>
      <p:sp>
        <p:nvSpPr>
          <p:cNvPr id="11" name="Rounded Rectangle 10"/>
          <p:cNvSpPr/>
          <p:nvPr/>
        </p:nvSpPr>
        <p:spPr>
          <a:xfrm>
            <a:off x="749808" y="2011680"/>
            <a:ext cx="128016" cy="128016"/>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965960"/>
            <a:ext cx="6327648" cy="548640"/>
          </a:xfrm>
          <a:prstGeom prst="rect">
            <a:avLst/>
          </a:prstGeom>
          <a:noFill/>
        </p:spPr>
        <p:txBody>
          <a:bodyPr wrap="square" anchor="t" lIns="0" rIns="0" tIns="0" bIns="0">
            <a:spAutoFit/>
          </a:bodyPr>
          <a:lstStyle/>
          <a:p>
            <a:pPr algn="l">
              <a:lnSpc>
                <a:spcPct val="105000"/>
              </a:lnSpc>
              <a:spcBef>
                <a:spcPts val="0"/>
              </a:spcBef>
              <a:spcAft>
                <a:spcPts val="400"/>
              </a:spcAft>
            </a:pPr>
            <a:r>
              <a:rPr sz="1350" b="1">
                <a:solidFill>
                  <a:srgbClr val="1D1D1B"/>
                </a:solidFill>
                <a:latin typeface="Avenir Next"/>
              </a:rPr>
              <a:t>Enrôlement assisté  </a:t>
            </a:r>
            <a:r>
              <a:rPr sz="1350" b="0">
                <a:solidFill>
                  <a:srgbClr val="5B6577"/>
                </a:solidFill>
                <a:latin typeface="Avenir Next"/>
              </a:rPr>
              <a:t>des bénéficiaires par des agents habilités, en moins d'une minute.</a:t>
            </a:r>
          </a:p>
        </p:txBody>
      </p:sp>
      <p:sp>
        <p:nvSpPr>
          <p:cNvPr id="13" name="Rounded Rectangle 12"/>
          <p:cNvSpPr/>
          <p:nvPr/>
        </p:nvSpPr>
        <p:spPr>
          <a:xfrm>
            <a:off x="749808" y="2606040"/>
            <a:ext cx="128016" cy="128016"/>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560320"/>
            <a:ext cx="6327648" cy="548640"/>
          </a:xfrm>
          <a:prstGeom prst="rect">
            <a:avLst/>
          </a:prstGeom>
          <a:noFill/>
        </p:spPr>
        <p:txBody>
          <a:bodyPr wrap="square" anchor="t" lIns="0" rIns="0" tIns="0" bIns="0">
            <a:spAutoFit/>
          </a:bodyPr>
          <a:lstStyle/>
          <a:p>
            <a:pPr algn="l">
              <a:lnSpc>
                <a:spcPct val="105000"/>
              </a:lnSpc>
              <a:spcBef>
                <a:spcPts val="0"/>
              </a:spcBef>
              <a:spcAft>
                <a:spcPts val="400"/>
              </a:spcAft>
            </a:pPr>
            <a:r>
              <a:rPr sz="1350" b="1">
                <a:solidFill>
                  <a:srgbClr val="1D1D1B"/>
                </a:solidFill>
                <a:latin typeface="Avenir Next"/>
              </a:rPr>
              <a:t>Vérification d'éligibilité  </a:t>
            </a:r>
            <a:r>
              <a:rPr sz="1350" b="0">
                <a:solidFill>
                  <a:srgbClr val="5B6577"/>
                </a:solidFill>
                <a:latin typeface="Avenir Next"/>
              </a:rPr>
              <a:t>aux référentiels nationaux : ONECI, RSU, opérateurs, registre IMEI.</a:t>
            </a:r>
          </a:p>
        </p:txBody>
      </p:sp>
      <p:sp>
        <p:nvSpPr>
          <p:cNvPr id="15" name="Rounded Rectangle 14"/>
          <p:cNvSpPr/>
          <p:nvPr/>
        </p:nvSpPr>
        <p:spPr>
          <a:xfrm>
            <a:off x="749808" y="3200400"/>
            <a:ext cx="128016" cy="128016"/>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154680"/>
            <a:ext cx="6327648" cy="548640"/>
          </a:xfrm>
          <a:prstGeom prst="rect">
            <a:avLst/>
          </a:prstGeom>
          <a:noFill/>
        </p:spPr>
        <p:txBody>
          <a:bodyPr wrap="square" anchor="t" lIns="0" rIns="0" tIns="0" bIns="0">
            <a:spAutoFit/>
          </a:bodyPr>
          <a:lstStyle/>
          <a:p>
            <a:pPr algn="l">
              <a:lnSpc>
                <a:spcPct val="105000"/>
              </a:lnSpc>
              <a:spcBef>
                <a:spcPts val="0"/>
              </a:spcBef>
              <a:spcAft>
                <a:spcPts val="400"/>
              </a:spcAft>
            </a:pPr>
            <a:r>
              <a:rPr sz="1350" b="1">
                <a:solidFill>
                  <a:srgbClr val="1D1D1B"/>
                </a:solidFill>
                <a:latin typeface="Avenir Next"/>
              </a:rPr>
              <a:t>Décision tracée  </a:t>
            </a:r>
            <a:r>
              <a:rPr sz="1350" b="0">
                <a:solidFill>
                  <a:srgbClr val="5B6577"/>
                </a:solidFill>
                <a:latin typeface="Avenir Next"/>
              </a:rPr>
              <a:t>validée ou refusée avec motif — unique et irréversible.</a:t>
            </a:r>
          </a:p>
        </p:txBody>
      </p:sp>
      <p:sp>
        <p:nvSpPr>
          <p:cNvPr id="17" name="Rounded Rectangle 16"/>
          <p:cNvSpPr/>
          <p:nvPr/>
        </p:nvSpPr>
        <p:spPr>
          <a:xfrm>
            <a:off x="749808" y="3794760"/>
            <a:ext cx="128016" cy="128016"/>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749040"/>
            <a:ext cx="6327648" cy="548640"/>
          </a:xfrm>
          <a:prstGeom prst="rect">
            <a:avLst/>
          </a:prstGeom>
          <a:noFill/>
        </p:spPr>
        <p:txBody>
          <a:bodyPr wrap="square" anchor="t" lIns="0" rIns="0" tIns="0" bIns="0">
            <a:spAutoFit/>
          </a:bodyPr>
          <a:lstStyle/>
          <a:p>
            <a:pPr algn="l">
              <a:lnSpc>
                <a:spcPct val="105000"/>
              </a:lnSpc>
              <a:spcBef>
                <a:spcPts val="0"/>
              </a:spcBef>
              <a:spcAft>
                <a:spcPts val="400"/>
              </a:spcAft>
            </a:pPr>
            <a:r>
              <a:rPr sz="1350" b="1">
                <a:solidFill>
                  <a:srgbClr val="1D1D1B"/>
                </a:solidFill>
                <a:latin typeface="Avenir Next"/>
              </a:rPr>
              <a:t>Remise &amp; preuve  </a:t>
            </a:r>
            <a:r>
              <a:rPr sz="1350" b="0">
                <a:solidFill>
                  <a:srgbClr val="5B6577"/>
                </a:solidFill>
                <a:latin typeface="Avenir Next"/>
              </a:rPr>
              <a:t>terminal remis, IMEI, reçu bénéficiaire et dossier probant scellé.</a:t>
            </a:r>
          </a:p>
        </p:txBody>
      </p:sp>
      <p:sp>
        <p:nvSpPr>
          <p:cNvPr id="19" name="Rounded Rectangle 18"/>
          <p:cNvSpPr/>
          <p:nvPr/>
        </p:nvSpPr>
        <p:spPr>
          <a:xfrm>
            <a:off x="749808" y="4389120"/>
            <a:ext cx="128016" cy="128016"/>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43400"/>
            <a:ext cx="6327648" cy="548640"/>
          </a:xfrm>
          <a:prstGeom prst="rect">
            <a:avLst/>
          </a:prstGeom>
          <a:noFill/>
        </p:spPr>
        <p:txBody>
          <a:bodyPr wrap="square" anchor="t" lIns="0" rIns="0" tIns="0" bIns="0">
            <a:spAutoFit/>
          </a:bodyPr>
          <a:lstStyle/>
          <a:p>
            <a:pPr algn="l">
              <a:lnSpc>
                <a:spcPct val="105000"/>
              </a:lnSpc>
              <a:spcBef>
                <a:spcPts val="0"/>
              </a:spcBef>
              <a:spcAft>
                <a:spcPts val="400"/>
              </a:spcAft>
            </a:pPr>
            <a:r>
              <a:rPr sz="1350" b="1">
                <a:solidFill>
                  <a:srgbClr val="1D1D1B"/>
                </a:solidFill>
                <a:latin typeface="Avenir Next"/>
              </a:rPr>
              <a:t>Pilotage  </a:t>
            </a:r>
            <a:r>
              <a:rPr sz="1350" b="0">
                <a:solidFill>
                  <a:srgbClr val="5B6577"/>
                </a:solidFill>
                <a:latin typeface="Avenir Next"/>
              </a:rPr>
              <a:t>stocks par centre, cartographie, délais (SLA), audit et clôture.</a:t>
            </a:r>
          </a:p>
        </p:txBody>
      </p:sp>
      <p:sp>
        <p:nvSpPr>
          <p:cNvPr id="21" name="Rounded Rectangle 20"/>
          <p:cNvSpPr/>
          <p:nvPr/>
        </p:nvSpPr>
        <p:spPr>
          <a:xfrm>
            <a:off x="7680960" y="1481328"/>
            <a:ext cx="3794760" cy="44805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0" y="1737360"/>
            <a:ext cx="324612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a:solidFill>
                  <a:srgbClr val="1A4382"/>
                </a:solidFill>
                <a:latin typeface="Avenir Next"/>
              </a:rPr>
              <a:t>Socle technique</a:t>
            </a:r>
          </a:p>
        </p:txBody>
      </p:sp>
      <p:sp>
        <p:nvSpPr>
          <p:cNvPr id="23" name="Rounded Rectangle 22"/>
          <p:cNvSpPr/>
          <p:nvPr/>
        </p:nvSpPr>
        <p:spPr>
          <a:xfrm>
            <a:off x="7955280" y="2231136"/>
            <a:ext cx="118872" cy="118872"/>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2194560"/>
            <a:ext cx="3017520" cy="548640"/>
          </a:xfrm>
          <a:prstGeom prst="rect">
            <a:avLst/>
          </a:prstGeom>
          <a:noFill/>
        </p:spPr>
        <p:txBody>
          <a:bodyPr wrap="square" anchor="t" lIns="0" rIns="0" tIns="0" bIns="0">
            <a:spAutoFit/>
          </a:bodyPr>
          <a:lstStyle/>
          <a:p>
            <a:pPr algn="l">
              <a:lnSpc>
                <a:spcPct val="105000"/>
              </a:lnSpc>
              <a:spcBef>
                <a:spcPts val="0"/>
              </a:spcBef>
              <a:spcAft>
                <a:spcPts val="400"/>
              </a:spcAft>
            </a:pPr>
            <a:r>
              <a:rPr sz="1150" b="1">
                <a:solidFill>
                  <a:srgbClr val="1D1D1B"/>
                </a:solidFill>
                <a:latin typeface="Avenir Next"/>
              </a:rPr>
              <a:t>Règles en base de données — </a:t>
            </a:r>
            <a:r>
              <a:rPr sz="1150" b="0">
                <a:solidFill>
                  <a:srgbClr val="5B6577"/>
                </a:solidFill>
                <a:latin typeface="Avenir Next"/>
              </a:rPr>
              <a:t>non contournables par l'API</a:t>
            </a:r>
          </a:p>
        </p:txBody>
      </p:sp>
      <p:sp>
        <p:nvSpPr>
          <p:cNvPr id="25" name="Rounded Rectangle 24"/>
          <p:cNvSpPr/>
          <p:nvPr/>
        </p:nvSpPr>
        <p:spPr>
          <a:xfrm>
            <a:off x="7955280" y="2798064"/>
            <a:ext cx="118872" cy="118872"/>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80" y="2761488"/>
            <a:ext cx="3017520" cy="548640"/>
          </a:xfrm>
          <a:prstGeom prst="rect">
            <a:avLst/>
          </a:prstGeom>
          <a:noFill/>
        </p:spPr>
        <p:txBody>
          <a:bodyPr wrap="square" anchor="t" lIns="0" rIns="0" tIns="0" bIns="0">
            <a:spAutoFit/>
          </a:bodyPr>
          <a:lstStyle/>
          <a:p>
            <a:pPr algn="l">
              <a:lnSpc>
                <a:spcPct val="105000"/>
              </a:lnSpc>
              <a:spcBef>
                <a:spcPts val="0"/>
              </a:spcBef>
              <a:spcAft>
                <a:spcPts val="400"/>
              </a:spcAft>
            </a:pPr>
            <a:r>
              <a:rPr sz="1150" b="1">
                <a:solidFill>
                  <a:srgbClr val="1D1D1B"/>
                </a:solidFill>
                <a:latin typeface="Avenir Next"/>
              </a:rPr>
              <a:t>Authentification des agents — </a:t>
            </a:r>
            <a:r>
              <a:rPr sz="1150" b="0">
                <a:solidFill>
                  <a:srgbClr val="5B6577"/>
                </a:solidFill>
                <a:latin typeface="Avenir Next"/>
              </a:rPr>
              <a:t>habilitations par rôle</a:t>
            </a:r>
          </a:p>
        </p:txBody>
      </p:sp>
      <p:sp>
        <p:nvSpPr>
          <p:cNvPr id="27" name="Rounded Rectangle 26"/>
          <p:cNvSpPr/>
          <p:nvPr/>
        </p:nvSpPr>
        <p:spPr>
          <a:xfrm>
            <a:off x="7955280" y="3364992"/>
            <a:ext cx="118872" cy="118872"/>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80" y="3328416"/>
            <a:ext cx="3017520" cy="548640"/>
          </a:xfrm>
          <a:prstGeom prst="rect">
            <a:avLst/>
          </a:prstGeom>
          <a:noFill/>
        </p:spPr>
        <p:txBody>
          <a:bodyPr wrap="square" anchor="t" lIns="0" rIns="0" tIns="0" bIns="0">
            <a:spAutoFit/>
          </a:bodyPr>
          <a:lstStyle/>
          <a:p>
            <a:pPr algn="l">
              <a:lnSpc>
                <a:spcPct val="105000"/>
              </a:lnSpc>
              <a:spcBef>
                <a:spcPts val="0"/>
              </a:spcBef>
              <a:spcAft>
                <a:spcPts val="400"/>
              </a:spcAft>
            </a:pPr>
            <a:r>
              <a:rPr sz="1150" b="1">
                <a:solidFill>
                  <a:srgbClr val="1D1D1B"/>
                </a:solidFill>
                <a:latin typeface="Avenir Next"/>
              </a:rPr>
              <a:t>Journal d'audit inaltérable — </a:t>
            </a:r>
            <a:r>
              <a:rPr sz="1150" b="0">
                <a:solidFill>
                  <a:srgbClr val="5B6577"/>
                </a:solidFill>
                <a:latin typeface="Avenir Next"/>
              </a:rPr>
              <a:t>chaque acte horodaté</a:t>
            </a:r>
          </a:p>
        </p:txBody>
      </p:sp>
      <p:sp>
        <p:nvSpPr>
          <p:cNvPr id="29" name="Rounded Rectangle 28"/>
          <p:cNvSpPr/>
          <p:nvPr/>
        </p:nvSpPr>
        <p:spPr>
          <a:xfrm>
            <a:off x="7955280" y="3931920"/>
            <a:ext cx="118872" cy="118872"/>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80" y="3895344"/>
            <a:ext cx="3017520" cy="548640"/>
          </a:xfrm>
          <a:prstGeom prst="rect">
            <a:avLst/>
          </a:prstGeom>
          <a:noFill/>
        </p:spPr>
        <p:txBody>
          <a:bodyPr wrap="square" anchor="t" lIns="0" rIns="0" tIns="0" bIns="0">
            <a:spAutoFit/>
          </a:bodyPr>
          <a:lstStyle/>
          <a:p>
            <a:pPr algn="l">
              <a:lnSpc>
                <a:spcPct val="105000"/>
              </a:lnSpc>
              <a:spcBef>
                <a:spcPts val="0"/>
              </a:spcBef>
              <a:spcAft>
                <a:spcPts val="400"/>
              </a:spcAft>
            </a:pPr>
            <a:r>
              <a:rPr sz="1150" b="1">
                <a:solidFill>
                  <a:srgbClr val="1D1D1B"/>
                </a:solidFill>
                <a:latin typeface="Avenir Next"/>
              </a:rPr>
              <a:t>Intégrations ANSUT — </a:t>
            </a:r>
            <a:r>
              <a:rPr sz="1150" b="0">
                <a:solidFill>
                  <a:srgbClr val="5B6577"/>
                </a:solidFill>
                <a:latin typeface="Avenir Next"/>
              </a:rPr>
              <a:t>Hub messagerie + Cryptologie</a:t>
            </a:r>
          </a:p>
        </p:txBody>
      </p:sp>
      <p:sp>
        <p:nvSpPr>
          <p:cNvPr id="31" name="Rounded Rectangle 30"/>
          <p:cNvSpPr/>
          <p:nvPr/>
        </p:nvSpPr>
        <p:spPr>
          <a:xfrm>
            <a:off x="7955280" y="4498848"/>
            <a:ext cx="118872" cy="118872"/>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83880" y="4462272"/>
            <a:ext cx="3017520" cy="548640"/>
          </a:xfrm>
          <a:prstGeom prst="rect">
            <a:avLst/>
          </a:prstGeom>
          <a:noFill/>
        </p:spPr>
        <p:txBody>
          <a:bodyPr wrap="square" anchor="t" lIns="0" rIns="0" tIns="0" bIns="0">
            <a:spAutoFit/>
          </a:bodyPr>
          <a:lstStyle/>
          <a:p>
            <a:pPr algn="l">
              <a:lnSpc>
                <a:spcPct val="105000"/>
              </a:lnSpc>
              <a:spcBef>
                <a:spcPts val="0"/>
              </a:spcBef>
              <a:spcAft>
                <a:spcPts val="400"/>
              </a:spcAft>
            </a:pPr>
            <a:r>
              <a:rPr sz="1150" b="1">
                <a:solidFill>
                  <a:srgbClr val="1D1D1B"/>
                </a:solidFill>
                <a:latin typeface="Avenir Next"/>
              </a:rPr>
              <a:t>Accessible en ligne — </a:t>
            </a:r>
            <a:r>
              <a:rPr sz="1150" b="0">
                <a:solidFill>
                  <a:srgbClr val="5B6577"/>
                </a:solidFill>
                <a:latin typeface="Avenir Next"/>
              </a:rPr>
              <a:t>poste, tablette de terrain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Le parcours du bénéficiaire</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Cinq étapes, une seule chaîne de confiance</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04</a:t>
            </a:r>
          </a:p>
        </p:txBody>
      </p:sp>
      <p:sp>
        <p:nvSpPr>
          <p:cNvPr id="10" name="Rounded Rectangle 9"/>
          <p:cNvSpPr/>
          <p:nvPr/>
        </p:nvSpPr>
        <p:spPr>
          <a:xfrm>
            <a:off x="640080" y="2468880"/>
            <a:ext cx="2036003" cy="22860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112" y="2724912"/>
            <a:ext cx="566928" cy="566928"/>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798064"/>
            <a:ext cx="566928" cy="457200"/>
          </a:xfrm>
          <a:prstGeom prst="rect">
            <a:avLst/>
          </a:prstGeom>
          <a:noFill/>
        </p:spPr>
        <p:txBody>
          <a:bodyPr wrap="square" anchor="t" lIns="0" rIns="0" tIns="0" bIns="0">
            <a:spAutoFit/>
          </a:bodyPr>
          <a:lstStyle/>
          <a:p>
            <a:pPr algn="ctr">
              <a:lnSpc>
                <a:spcPct val="100000"/>
              </a:lnSpc>
              <a:spcBef>
                <a:spcPts val="0"/>
              </a:spcBef>
              <a:spcAft>
                <a:spcPts val="400"/>
              </a:spcAft>
            </a:pPr>
            <a:r>
              <a:rPr sz="2000" b="1">
                <a:solidFill>
                  <a:srgbClr val="FFFFFF"/>
                </a:solidFill>
                <a:latin typeface="Avenir Next"/>
              </a:rPr>
              <a:t>1</a:t>
            </a:r>
          </a:p>
        </p:txBody>
      </p:sp>
      <p:sp>
        <p:nvSpPr>
          <p:cNvPr id="13" name="TextBox 12"/>
          <p:cNvSpPr txBox="1"/>
          <p:nvPr/>
        </p:nvSpPr>
        <p:spPr>
          <a:xfrm>
            <a:off x="896112" y="3429000"/>
            <a:ext cx="1578803"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a:solidFill>
                  <a:srgbClr val="1A4382"/>
                </a:solidFill>
                <a:latin typeface="Avenir Next"/>
              </a:rPr>
              <a:t>Enrôlement</a:t>
            </a:r>
          </a:p>
        </p:txBody>
      </p:sp>
      <p:sp>
        <p:nvSpPr>
          <p:cNvPr id="14" name="TextBox 13"/>
          <p:cNvSpPr txBox="1"/>
          <p:nvPr/>
        </p:nvSpPr>
        <p:spPr>
          <a:xfrm>
            <a:off x="896112" y="3794760"/>
            <a:ext cx="1560515" cy="822960"/>
          </a:xfrm>
          <a:prstGeom prst="rect">
            <a:avLst/>
          </a:prstGeom>
          <a:noFill/>
        </p:spPr>
        <p:txBody>
          <a:bodyPr wrap="square" anchor="t" lIns="0" rIns="0" tIns="0" bIns="0">
            <a:spAutoFit/>
          </a:bodyPr>
          <a:lstStyle/>
          <a:p>
            <a:pPr algn="l">
              <a:lnSpc>
                <a:spcPct val="108000"/>
              </a:lnSpc>
              <a:spcBef>
                <a:spcPts val="0"/>
              </a:spcBef>
              <a:spcAft>
                <a:spcPts val="400"/>
              </a:spcAft>
            </a:pPr>
            <a:r>
              <a:rPr sz="1080" b="0">
                <a:solidFill>
                  <a:srgbClr val="5B6577"/>
                </a:solidFill>
                <a:latin typeface="Avenir Next"/>
              </a:rPr>
              <a:t>Scan des pièces, saisie assistée, consentement signé</a:t>
            </a:r>
          </a:p>
        </p:txBody>
      </p:sp>
      <p:sp>
        <p:nvSpPr>
          <p:cNvPr id="15" name="Rounded Rectangle 14"/>
          <p:cNvSpPr/>
          <p:nvPr/>
        </p:nvSpPr>
        <p:spPr>
          <a:xfrm>
            <a:off x="896112" y="4343399"/>
            <a:ext cx="850392" cy="310896"/>
          </a:xfrm>
          <a:prstGeom prst="roundRect">
            <a:avLst>
              <a:gd name="adj" fmla="val 50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050" b="1">
                <a:solidFill>
                  <a:srgbClr val="F08224"/>
                </a:solidFill>
                <a:latin typeface="Avenir Next"/>
              </a:rPr>
              <a:t>&lt; 1 min</a:t>
            </a:r>
          </a:p>
        </p:txBody>
      </p:sp>
      <p:sp>
        <p:nvSpPr>
          <p:cNvPr id="16" name="Chevron 15"/>
          <p:cNvSpPr/>
          <p:nvPr/>
        </p:nvSpPr>
        <p:spPr>
          <a:xfrm>
            <a:off x="2657795" y="3383280"/>
            <a:ext cx="201168" cy="457200"/>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22387" y="2468880"/>
            <a:ext cx="2036003" cy="22860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78419" y="2724912"/>
            <a:ext cx="566928" cy="566928"/>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78419" y="2798064"/>
            <a:ext cx="566928" cy="457200"/>
          </a:xfrm>
          <a:prstGeom prst="rect">
            <a:avLst/>
          </a:prstGeom>
          <a:noFill/>
        </p:spPr>
        <p:txBody>
          <a:bodyPr wrap="square" anchor="t" lIns="0" rIns="0" tIns="0" bIns="0">
            <a:spAutoFit/>
          </a:bodyPr>
          <a:lstStyle/>
          <a:p>
            <a:pPr algn="ctr">
              <a:lnSpc>
                <a:spcPct val="100000"/>
              </a:lnSpc>
              <a:spcBef>
                <a:spcPts val="0"/>
              </a:spcBef>
              <a:spcAft>
                <a:spcPts val="400"/>
              </a:spcAft>
            </a:pPr>
            <a:r>
              <a:rPr sz="2000" b="1">
                <a:solidFill>
                  <a:srgbClr val="FFFFFF"/>
                </a:solidFill>
                <a:latin typeface="Avenir Next"/>
              </a:rPr>
              <a:t>2</a:t>
            </a:r>
          </a:p>
        </p:txBody>
      </p:sp>
      <p:sp>
        <p:nvSpPr>
          <p:cNvPr id="20" name="TextBox 19"/>
          <p:cNvSpPr txBox="1"/>
          <p:nvPr/>
        </p:nvSpPr>
        <p:spPr>
          <a:xfrm>
            <a:off x="3078419" y="3429000"/>
            <a:ext cx="1578803"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a:solidFill>
                  <a:srgbClr val="1A4382"/>
                </a:solidFill>
                <a:latin typeface="Avenir Next"/>
              </a:rPr>
              <a:t>Vérification</a:t>
            </a:r>
          </a:p>
        </p:txBody>
      </p:sp>
      <p:sp>
        <p:nvSpPr>
          <p:cNvPr id="21" name="TextBox 20"/>
          <p:cNvSpPr txBox="1"/>
          <p:nvPr/>
        </p:nvSpPr>
        <p:spPr>
          <a:xfrm>
            <a:off x="3078419" y="3794760"/>
            <a:ext cx="1560515" cy="822960"/>
          </a:xfrm>
          <a:prstGeom prst="rect">
            <a:avLst/>
          </a:prstGeom>
          <a:noFill/>
        </p:spPr>
        <p:txBody>
          <a:bodyPr wrap="square" anchor="t" lIns="0" rIns="0" tIns="0" bIns="0">
            <a:spAutoFit/>
          </a:bodyPr>
          <a:lstStyle/>
          <a:p>
            <a:pPr algn="l">
              <a:lnSpc>
                <a:spcPct val="108000"/>
              </a:lnSpc>
              <a:spcBef>
                <a:spcPts val="0"/>
              </a:spcBef>
              <a:spcAft>
                <a:spcPts val="400"/>
              </a:spcAft>
            </a:pPr>
            <a:r>
              <a:rPr sz="1080" b="0">
                <a:solidFill>
                  <a:srgbClr val="5B6577"/>
                </a:solidFill>
                <a:latin typeface="Avenir Next"/>
              </a:rPr>
              <a:t>Contrôles ONECI · RSU · opérateurs · IMEI</a:t>
            </a:r>
          </a:p>
        </p:txBody>
      </p:sp>
      <p:sp>
        <p:nvSpPr>
          <p:cNvPr id="22" name="Rounded Rectangle 21"/>
          <p:cNvSpPr/>
          <p:nvPr/>
        </p:nvSpPr>
        <p:spPr>
          <a:xfrm>
            <a:off x="3078419" y="4343399"/>
            <a:ext cx="1261872" cy="310896"/>
          </a:xfrm>
          <a:prstGeom prst="roundRect">
            <a:avLst>
              <a:gd name="adj" fmla="val 50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050" b="1">
                <a:solidFill>
                  <a:srgbClr val="F08224"/>
                </a:solidFill>
                <a:latin typeface="Avenir Next"/>
              </a:rPr>
              <a:t>référentiels</a:t>
            </a:r>
          </a:p>
        </p:txBody>
      </p:sp>
      <p:sp>
        <p:nvSpPr>
          <p:cNvPr id="23" name="Chevron 22"/>
          <p:cNvSpPr/>
          <p:nvPr/>
        </p:nvSpPr>
        <p:spPr>
          <a:xfrm>
            <a:off x="4840102" y="3383280"/>
            <a:ext cx="201168" cy="457200"/>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04694" y="2468880"/>
            <a:ext cx="2036003" cy="22860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260726" y="2724912"/>
            <a:ext cx="566928" cy="566928"/>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60726" y="2798064"/>
            <a:ext cx="566928" cy="457200"/>
          </a:xfrm>
          <a:prstGeom prst="rect">
            <a:avLst/>
          </a:prstGeom>
          <a:noFill/>
        </p:spPr>
        <p:txBody>
          <a:bodyPr wrap="square" anchor="t" lIns="0" rIns="0" tIns="0" bIns="0">
            <a:spAutoFit/>
          </a:bodyPr>
          <a:lstStyle/>
          <a:p>
            <a:pPr algn="ctr">
              <a:lnSpc>
                <a:spcPct val="100000"/>
              </a:lnSpc>
              <a:spcBef>
                <a:spcPts val="0"/>
              </a:spcBef>
              <a:spcAft>
                <a:spcPts val="400"/>
              </a:spcAft>
            </a:pPr>
            <a:r>
              <a:rPr sz="2000" b="1">
                <a:solidFill>
                  <a:srgbClr val="FFFFFF"/>
                </a:solidFill>
                <a:latin typeface="Avenir Next"/>
              </a:rPr>
              <a:t>3</a:t>
            </a:r>
          </a:p>
        </p:txBody>
      </p:sp>
      <p:sp>
        <p:nvSpPr>
          <p:cNvPr id="27" name="TextBox 26"/>
          <p:cNvSpPr txBox="1"/>
          <p:nvPr/>
        </p:nvSpPr>
        <p:spPr>
          <a:xfrm>
            <a:off x="5260726" y="3429000"/>
            <a:ext cx="1578803"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a:solidFill>
                  <a:srgbClr val="1A4382"/>
                </a:solidFill>
                <a:latin typeface="Avenir Next"/>
              </a:rPr>
              <a:t>Décision</a:t>
            </a:r>
          </a:p>
        </p:txBody>
      </p:sp>
      <p:sp>
        <p:nvSpPr>
          <p:cNvPr id="28" name="TextBox 27"/>
          <p:cNvSpPr txBox="1"/>
          <p:nvPr/>
        </p:nvSpPr>
        <p:spPr>
          <a:xfrm>
            <a:off x="5260726" y="3794760"/>
            <a:ext cx="1560515" cy="822960"/>
          </a:xfrm>
          <a:prstGeom prst="rect">
            <a:avLst/>
          </a:prstGeom>
          <a:noFill/>
        </p:spPr>
        <p:txBody>
          <a:bodyPr wrap="square" anchor="t" lIns="0" rIns="0" tIns="0" bIns="0">
            <a:spAutoFit/>
          </a:bodyPr>
          <a:lstStyle/>
          <a:p>
            <a:pPr algn="l">
              <a:lnSpc>
                <a:spcPct val="108000"/>
              </a:lnSpc>
              <a:spcBef>
                <a:spcPts val="0"/>
              </a:spcBef>
              <a:spcAft>
                <a:spcPts val="400"/>
              </a:spcAft>
            </a:pPr>
            <a:r>
              <a:rPr sz="1080" b="0">
                <a:solidFill>
                  <a:srgbClr val="5B6577"/>
                </a:solidFill>
                <a:latin typeface="Avenir Next"/>
              </a:rPr>
              <a:t>Éligible / à instruire / refus motivé</a:t>
            </a:r>
          </a:p>
        </p:txBody>
      </p:sp>
      <p:sp>
        <p:nvSpPr>
          <p:cNvPr id="29" name="Rounded Rectangle 28"/>
          <p:cNvSpPr/>
          <p:nvPr/>
        </p:nvSpPr>
        <p:spPr>
          <a:xfrm>
            <a:off x="5260726" y="4343399"/>
            <a:ext cx="768096" cy="310896"/>
          </a:xfrm>
          <a:prstGeom prst="roundRect">
            <a:avLst>
              <a:gd name="adj" fmla="val 50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050" b="1">
                <a:solidFill>
                  <a:srgbClr val="F08224"/>
                </a:solidFill>
                <a:latin typeface="Avenir Next"/>
              </a:rPr>
              <a:t>&lt; 12 h</a:t>
            </a:r>
          </a:p>
        </p:txBody>
      </p:sp>
      <p:sp>
        <p:nvSpPr>
          <p:cNvPr id="30" name="Chevron 29"/>
          <p:cNvSpPr/>
          <p:nvPr/>
        </p:nvSpPr>
        <p:spPr>
          <a:xfrm>
            <a:off x="7022409" y="3383280"/>
            <a:ext cx="201168" cy="457200"/>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187001" y="2468880"/>
            <a:ext cx="2036003" cy="22860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443033" y="2724912"/>
            <a:ext cx="566928" cy="566928"/>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43033" y="2798064"/>
            <a:ext cx="566928" cy="457200"/>
          </a:xfrm>
          <a:prstGeom prst="rect">
            <a:avLst/>
          </a:prstGeom>
          <a:noFill/>
        </p:spPr>
        <p:txBody>
          <a:bodyPr wrap="square" anchor="t" lIns="0" rIns="0" tIns="0" bIns="0">
            <a:spAutoFit/>
          </a:bodyPr>
          <a:lstStyle/>
          <a:p>
            <a:pPr algn="ctr">
              <a:lnSpc>
                <a:spcPct val="100000"/>
              </a:lnSpc>
              <a:spcBef>
                <a:spcPts val="0"/>
              </a:spcBef>
              <a:spcAft>
                <a:spcPts val="400"/>
              </a:spcAft>
            </a:pPr>
            <a:r>
              <a:rPr sz="2000" b="1">
                <a:solidFill>
                  <a:srgbClr val="FFFFFF"/>
                </a:solidFill>
                <a:latin typeface="Avenir Next"/>
              </a:rPr>
              <a:t>4</a:t>
            </a:r>
          </a:p>
        </p:txBody>
      </p:sp>
      <p:sp>
        <p:nvSpPr>
          <p:cNvPr id="34" name="TextBox 33"/>
          <p:cNvSpPr txBox="1"/>
          <p:nvPr/>
        </p:nvSpPr>
        <p:spPr>
          <a:xfrm>
            <a:off x="7443033" y="3429000"/>
            <a:ext cx="1578803"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a:solidFill>
                  <a:srgbClr val="1A4382"/>
                </a:solidFill>
                <a:latin typeface="Avenir Next"/>
              </a:rPr>
              <a:t>Remise</a:t>
            </a:r>
          </a:p>
        </p:txBody>
      </p:sp>
      <p:sp>
        <p:nvSpPr>
          <p:cNvPr id="35" name="TextBox 34"/>
          <p:cNvSpPr txBox="1"/>
          <p:nvPr/>
        </p:nvSpPr>
        <p:spPr>
          <a:xfrm>
            <a:off x="7443033" y="3794760"/>
            <a:ext cx="1560515" cy="822960"/>
          </a:xfrm>
          <a:prstGeom prst="rect">
            <a:avLst/>
          </a:prstGeom>
          <a:noFill/>
        </p:spPr>
        <p:txBody>
          <a:bodyPr wrap="square" anchor="t" lIns="0" rIns="0" tIns="0" bIns="0">
            <a:spAutoFit/>
          </a:bodyPr>
          <a:lstStyle/>
          <a:p>
            <a:pPr algn="l">
              <a:lnSpc>
                <a:spcPct val="108000"/>
              </a:lnSpc>
              <a:spcBef>
                <a:spcPts val="0"/>
              </a:spcBef>
              <a:spcAft>
                <a:spcPts val="400"/>
              </a:spcAft>
            </a:pPr>
            <a:r>
              <a:rPr sz="1080" b="0">
                <a:solidFill>
                  <a:srgbClr val="5B6577"/>
                </a:solidFill>
                <a:latin typeface="Avenir Next"/>
              </a:rPr>
              <a:t>Terminal, IMEI, point de retrait le plus proche</a:t>
            </a:r>
          </a:p>
        </p:txBody>
      </p:sp>
      <p:sp>
        <p:nvSpPr>
          <p:cNvPr id="36" name="Rounded Rectangle 35"/>
          <p:cNvSpPr/>
          <p:nvPr/>
        </p:nvSpPr>
        <p:spPr>
          <a:xfrm>
            <a:off x="7443033" y="4343399"/>
            <a:ext cx="768096" cy="310896"/>
          </a:xfrm>
          <a:prstGeom prst="roundRect">
            <a:avLst>
              <a:gd name="adj" fmla="val 50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050" b="1">
                <a:solidFill>
                  <a:srgbClr val="F08224"/>
                </a:solidFill>
                <a:latin typeface="Avenir Next"/>
              </a:rPr>
              <a:t>preuve</a:t>
            </a:r>
          </a:p>
        </p:txBody>
      </p:sp>
      <p:sp>
        <p:nvSpPr>
          <p:cNvPr id="37" name="Chevron 36"/>
          <p:cNvSpPr/>
          <p:nvPr/>
        </p:nvSpPr>
        <p:spPr>
          <a:xfrm>
            <a:off x="9204716" y="3383280"/>
            <a:ext cx="201168" cy="457200"/>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369308" y="2468880"/>
            <a:ext cx="2036003" cy="22860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25340" y="2724912"/>
            <a:ext cx="566928" cy="566928"/>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25340" y="2798064"/>
            <a:ext cx="566928" cy="457200"/>
          </a:xfrm>
          <a:prstGeom prst="rect">
            <a:avLst/>
          </a:prstGeom>
          <a:noFill/>
        </p:spPr>
        <p:txBody>
          <a:bodyPr wrap="square" anchor="t" lIns="0" rIns="0" tIns="0" bIns="0">
            <a:spAutoFit/>
          </a:bodyPr>
          <a:lstStyle/>
          <a:p>
            <a:pPr algn="ctr">
              <a:lnSpc>
                <a:spcPct val="100000"/>
              </a:lnSpc>
              <a:spcBef>
                <a:spcPts val="0"/>
              </a:spcBef>
              <a:spcAft>
                <a:spcPts val="400"/>
              </a:spcAft>
            </a:pPr>
            <a:r>
              <a:rPr sz="2000" b="1">
                <a:solidFill>
                  <a:srgbClr val="FFFFFF"/>
                </a:solidFill>
                <a:latin typeface="Avenir Next"/>
              </a:rPr>
              <a:t>5</a:t>
            </a:r>
          </a:p>
        </p:txBody>
      </p:sp>
      <p:sp>
        <p:nvSpPr>
          <p:cNvPr id="41" name="TextBox 40"/>
          <p:cNvSpPr txBox="1"/>
          <p:nvPr/>
        </p:nvSpPr>
        <p:spPr>
          <a:xfrm>
            <a:off x="9625340" y="3429000"/>
            <a:ext cx="1578803"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a:solidFill>
                  <a:srgbClr val="1A4382"/>
                </a:solidFill>
                <a:latin typeface="Avenir Next"/>
              </a:rPr>
              <a:t>Reçu &amp; cachet</a:t>
            </a:r>
          </a:p>
        </p:txBody>
      </p:sp>
      <p:sp>
        <p:nvSpPr>
          <p:cNvPr id="42" name="TextBox 41"/>
          <p:cNvSpPr txBox="1"/>
          <p:nvPr/>
        </p:nvSpPr>
        <p:spPr>
          <a:xfrm>
            <a:off x="9625340" y="3794760"/>
            <a:ext cx="1560515" cy="822960"/>
          </a:xfrm>
          <a:prstGeom prst="rect">
            <a:avLst/>
          </a:prstGeom>
          <a:noFill/>
        </p:spPr>
        <p:txBody>
          <a:bodyPr wrap="square" anchor="t" lIns="0" rIns="0" tIns="0" bIns="0">
            <a:spAutoFit/>
          </a:bodyPr>
          <a:lstStyle/>
          <a:p>
            <a:pPr algn="l">
              <a:lnSpc>
                <a:spcPct val="108000"/>
              </a:lnSpc>
              <a:spcBef>
                <a:spcPts val="0"/>
              </a:spcBef>
              <a:spcAft>
                <a:spcPts val="400"/>
              </a:spcAft>
            </a:pPr>
            <a:r>
              <a:rPr sz="1080" b="0">
                <a:solidFill>
                  <a:srgbClr val="5B6577"/>
                </a:solidFill>
                <a:latin typeface="Avenir Next"/>
              </a:rPr>
              <a:t>Reçu bénéficiaire + dossier probant scellé</a:t>
            </a:r>
          </a:p>
        </p:txBody>
      </p:sp>
      <p:sp>
        <p:nvSpPr>
          <p:cNvPr id="43" name="Rounded Rectangle 42"/>
          <p:cNvSpPr/>
          <p:nvPr/>
        </p:nvSpPr>
        <p:spPr>
          <a:xfrm>
            <a:off x="9625340" y="4343399"/>
            <a:ext cx="1014983" cy="310896"/>
          </a:xfrm>
          <a:prstGeom prst="roundRect">
            <a:avLst>
              <a:gd name="adj" fmla="val 50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050" b="1">
                <a:solidFill>
                  <a:srgbClr val="F08224"/>
                </a:solidFill>
                <a:latin typeface="Avenir Next"/>
              </a:rPr>
              <a:t>opposable</a:t>
            </a:r>
          </a:p>
        </p:txBody>
      </p:sp>
      <p:sp>
        <p:nvSpPr>
          <p:cNvPr id="44" name="TextBox 43"/>
          <p:cNvSpPr txBox="1"/>
          <p:nvPr/>
        </p:nvSpPr>
        <p:spPr>
          <a:xfrm>
            <a:off x="749808" y="5029200"/>
            <a:ext cx="10698480" cy="548640"/>
          </a:xfrm>
          <a:prstGeom prst="rect">
            <a:avLst/>
          </a:prstGeom>
          <a:noFill/>
        </p:spPr>
        <p:txBody>
          <a:bodyPr wrap="square" anchor="t" lIns="0" rIns="0" tIns="0" bIns="0">
            <a:spAutoFit/>
          </a:bodyPr>
          <a:lstStyle/>
          <a:p>
            <a:pPr algn="l">
              <a:lnSpc>
                <a:spcPct val="115000"/>
              </a:lnSpc>
              <a:spcBef>
                <a:spcPts val="0"/>
              </a:spcBef>
              <a:spcAft>
                <a:spcPts val="400"/>
              </a:spcAft>
            </a:pPr>
            <a:r>
              <a:rPr sz="1250" b="0">
                <a:solidFill>
                  <a:srgbClr val="5B6577"/>
                </a:solidFill>
                <a:latin typeface="Avenir Next"/>
              </a:rPr>
              <a:t>Chaque étape alimente le dossier probant. La décision et le non-cumul sont garantis en base de données : impossible de les contourner.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Accueil &amp; pilotage</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Mission affichée, activité et parcours en un coup d'œil</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05</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accueil.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Mission visible</a:t>
            </a:r>
          </a:p>
          <a:p>
            <a:pPr algn="l">
              <a:lnSpc>
                <a:spcPct val="108000"/>
              </a:lnSpc>
              <a:spcBef>
                <a:spcPts val="0"/>
              </a:spcBef>
              <a:spcAft>
                <a:spcPts val="200"/>
              </a:spcAft>
            </a:pPr>
            <a:r>
              <a:rPr sz="1150" b="0">
                <a:solidFill>
                  <a:srgbClr val="5B6577"/>
                </a:solidFill>
                <a:latin typeface="Avenir Next"/>
              </a:rPr>
              <a:t>le sens du service public est rappelé à chaque agent.</a:t>
            </a:r>
          </a:p>
        </p:txBody>
      </p:sp>
      <p:sp>
        <p:nvSpPr>
          <p:cNvPr id="14" name="Rounded Rectangle 13"/>
          <p:cNvSpPr/>
          <p:nvPr/>
        </p:nvSpPr>
        <p:spPr>
          <a:xfrm>
            <a:off x="8549640" y="2692907"/>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674619"/>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Indicateurs du jour</a:t>
            </a:r>
          </a:p>
          <a:p>
            <a:pPr algn="l">
              <a:lnSpc>
                <a:spcPct val="108000"/>
              </a:lnSpc>
              <a:spcBef>
                <a:spcPts val="0"/>
              </a:spcBef>
              <a:spcAft>
                <a:spcPts val="200"/>
              </a:spcAft>
            </a:pPr>
            <a:r>
              <a:rPr sz="1150" b="0">
                <a:solidFill>
                  <a:srgbClr val="5B6577"/>
                </a:solidFill>
                <a:latin typeface="Avenir Next"/>
              </a:rPr>
              <a:t>enrôlés, délai moyen, dossiers à instruire, remis.</a:t>
            </a:r>
          </a:p>
        </p:txBody>
      </p:sp>
      <p:sp>
        <p:nvSpPr>
          <p:cNvPr id="16" name="Rounded Rectangle 15"/>
          <p:cNvSpPr/>
          <p:nvPr/>
        </p:nvSpPr>
        <p:spPr>
          <a:xfrm>
            <a:off x="8549640" y="3579875"/>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561587"/>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Fil du parcours</a:t>
            </a:r>
          </a:p>
          <a:p>
            <a:pPr algn="l">
              <a:lnSpc>
                <a:spcPct val="108000"/>
              </a:lnSpc>
              <a:spcBef>
                <a:spcPts val="0"/>
              </a:spcBef>
              <a:spcAft>
                <a:spcPts val="200"/>
              </a:spcAft>
            </a:pPr>
            <a:r>
              <a:rPr sz="1150" b="0">
                <a:solidFill>
                  <a:srgbClr val="5B6577"/>
                </a:solidFill>
                <a:latin typeface="Avenir Next"/>
              </a:rPr>
              <a:t>l'agent situe chaque dossier dans la chaîne.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Enrôlement</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Enrôler un bénéficiaire en moins d'une minute</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06</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enrolement.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Lecture des pièces</a:t>
            </a:r>
          </a:p>
          <a:p>
            <a:pPr algn="l">
              <a:lnSpc>
                <a:spcPct val="108000"/>
              </a:lnSpc>
              <a:spcBef>
                <a:spcPts val="0"/>
              </a:spcBef>
              <a:spcAft>
                <a:spcPts val="200"/>
              </a:spcAft>
            </a:pPr>
            <a:r>
              <a:rPr sz="1150" b="0">
                <a:solidFill>
                  <a:srgbClr val="5B6577"/>
                </a:solidFill>
                <a:latin typeface="Avenir Next"/>
              </a:rPr>
              <a:t>CNI, NNI et CMU pré-remplissent le dossier (simulé).</a:t>
            </a:r>
          </a:p>
        </p:txBody>
      </p:sp>
      <p:sp>
        <p:nvSpPr>
          <p:cNvPr id="14" name="Rounded Rectangle 13"/>
          <p:cNvSpPr/>
          <p:nvPr/>
        </p:nvSpPr>
        <p:spPr>
          <a:xfrm>
            <a:off x="8549640" y="2692907"/>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674619"/>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Chronomètre</a:t>
            </a:r>
          </a:p>
          <a:p>
            <a:pPr algn="l">
              <a:lnSpc>
                <a:spcPct val="108000"/>
              </a:lnSpc>
              <a:spcBef>
                <a:spcPts val="0"/>
              </a:spcBef>
              <a:spcAft>
                <a:spcPts val="200"/>
              </a:spcAft>
            </a:pPr>
            <a:r>
              <a:rPr sz="1150" b="0">
                <a:solidFill>
                  <a:srgbClr val="5B6577"/>
                </a:solidFill>
                <a:latin typeface="Avenir Next"/>
              </a:rPr>
              <a:t>objectif &lt; 1 min tenu, mesuré en direct.</a:t>
            </a:r>
          </a:p>
        </p:txBody>
      </p:sp>
      <p:sp>
        <p:nvSpPr>
          <p:cNvPr id="16" name="Rounded Rectangle 15"/>
          <p:cNvSpPr/>
          <p:nvPr/>
        </p:nvSpPr>
        <p:spPr>
          <a:xfrm>
            <a:off x="8549640" y="3579875"/>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561587"/>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Consentement signé</a:t>
            </a:r>
          </a:p>
          <a:p>
            <a:pPr algn="l">
              <a:lnSpc>
                <a:spcPct val="108000"/>
              </a:lnSpc>
              <a:spcBef>
                <a:spcPts val="0"/>
              </a:spcBef>
              <a:spcAft>
                <a:spcPts val="200"/>
              </a:spcAft>
            </a:pPr>
            <a:r>
              <a:rPr sz="1150" b="0">
                <a:solidFill>
                  <a:srgbClr val="5B6577"/>
                </a:solidFill>
                <a:latin typeface="Avenir Next"/>
              </a:rPr>
              <a:t>signature manuscrite ou témoin si analphabète.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Vérification</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Contrôles d'éligibilité et consultation des opérateurs</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07</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_verification.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Quatre contrôles</a:t>
            </a:r>
          </a:p>
          <a:p>
            <a:pPr algn="l">
              <a:lnSpc>
                <a:spcPct val="108000"/>
              </a:lnSpc>
              <a:spcBef>
                <a:spcPts val="0"/>
              </a:spcBef>
              <a:spcAft>
                <a:spcPts val="200"/>
              </a:spcAft>
            </a:pPr>
            <a:r>
              <a:rPr sz="1150" b="0">
                <a:solidFill>
                  <a:srgbClr val="5B6577"/>
                </a:solidFill>
                <a:latin typeface="Avenir Next"/>
              </a:rPr>
              <a:t>ONECI, RSU, opérateurs, registre IMEI.</a:t>
            </a:r>
          </a:p>
        </p:txBody>
      </p:sp>
      <p:sp>
        <p:nvSpPr>
          <p:cNvPr id="14" name="Rounded Rectangle 13"/>
          <p:cNvSpPr/>
          <p:nvPr/>
        </p:nvSpPr>
        <p:spPr>
          <a:xfrm>
            <a:off x="8549640" y="2478024"/>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459736"/>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Base des opérateurs</a:t>
            </a:r>
          </a:p>
          <a:p>
            <a:pPr algn="l">
              <a:lnSpc>
                <a:spcPct val="108000"/>
              </a:lnSpc>
              <a:spcBef>
                <a:spcPts val="0"/>
              </a:spcBef>
              <a:spcAft>
                <a:spcPts val="200"/>
              </a:spcAft>
            </a:pPr>
            <a:r>
              <a:rPr sz="1150" b="0">
                <a:solidFill>
                  <a:srgbClr val="5B6577"/>
                </a:solidFill>
                <a:latin typeface="Avenir Next"/>
              </a:rPr>
              <a:t>Orange, MTN et Moov consultés — chacun à sa couleur.</a:t>
            </a:r>
          </a:p>
        </p:txBody>
      </p:sp>
      <p:sp>
        <p:nvSpPr>
          <p:cNvPr id="16" name="Rounded Rectangle 15"/>
          <p:cNvSpPr/>
          <p:nvPr/>
        </p:nvSpPr>
        <p:spPr>
          <a:xfrm>
            <a:off x="8549640" y="3579875"/>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561587"/>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Décision tracée</a:t>
            </a:r>
          </a:p>
          <a:p>
            <a:pPr algn="l">
              <a:lnSpc>
                <a:spcPct val="108000"/>
              </a:lnSpc>
              <a:spcBef>
                <a:spcPts val="0"/>
              </a:spcBef>
              <a:spcAft>
                <a:spcPts val="200"/>
              </a:spcAft>
            </a:pPr>
            <a:r>
              <a:rPr sz="1150" b="0">
                <a:solidFill>
                  <a:srgbClr val="5B6577"/>
                </a:solidFill>
                <a:latin typeface="Avenir Next"/>
              </a:rPr>
              <a:t>valider, instruire ou refuser avec motif.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Stock &amp; retraits</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Orienter le bénéficiaire vers le centre le plus proche avec stock</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08</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4_stock.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Cartographie</a:t>
            </a:r>
          </a:p>
          <a:p>
            <a:pPr algn="l">
              <a:lnSpc>
                <a:spcPct val="108000"/>
              </a:lnSpc>
              <a:spcBef>
                <a:spcPts val="0"/>
              </a:spcBef>
              <a:spcAft>
                <a:spcPts val="200"/>
              </a:spcAft>
            </a:pPr>
            <a:r>
              <a:rPr sz="1150" b="0">
                <a:solidFill>
                  <a:srgbClr val="5B6577"/>
                </a:solidFill>
                <a:latin typeface="Avenir Next"/>
              </a:rPr>
              <a:t>répartition des centres sur le territoire.</a:t>
            </a:r>
          </a:p>
        </p:txBody>
      </p:sp>
      <p:sp>
        <p:nvSpPr>
          <p:cNvPr id="14" name="Rounded Rectangle 13"/>
          <p:cNvSpPr/>
          <p:nvPr/>
        </p:nvSpPr>
        <p:spPr>
          <a:xfrm>
            <a:off x="8549640" y="2478024"/>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459736"/>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Stock par centre</a:t>
            </a:r>
          </a:p>
          <a:p>
            <a:pPr algn="l">
              <a:lnSpc>
                <a:spcPct val="108000"/>
              </a:lnSpc>
              <a:spcBef>
                <a:spcPts val="0"/>
              </a:spcBef>
              <a:spcAft>
                <a:spcPts val="200"/>
              </a:spcAft>
            </a:pPr>
            <a:r>
              <a:rPr sz="1150" b="0">
                <a:solidFill>
                  <a:srgbClr val="5B6577"/>
                </a:solidFill>
                <a:latin typeface="Avenir Next"/>
              </a:rPr>
              <a:t>seuils d'alerte et réassort entre centres.</a:t>
            </a:r>
          </a:p>
        </p:txBody>
      </p:sp>
      <p:sp>
        <p:nvSpPr>
          <p:cNvPr id="16" name="Rounded Rectangle 15"/>
          <p:cNvSpPr/>
          <p:nvPr/>
        </p:nvSpPr>
        <p:spPr>
          <a:xfrm>
            <a:off x="8549640" y="3364992"/>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346704"/>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Gestionnaire</a:t>
            </a:r>
          </a:p>
          <a:p>
            <a:pPr algn="l">
              <a:lnSpc>
                <a:spcPct val="108000"/>
              </a:lnSpc>
              <a:spcBef>
                <a:spcPts val="0"/>
              </a:spcBef>
              <a:spcAft>
                <a:spcPts val="200"/>
              </a:spcAft>
            </a:pPr>
            <a:r>
              <a:rPr sz="1150" b="0">
                <a:solidFill>
                  <a:srgbClr val="5B6577"/>
                </a:solidFill>
                <a:latin typeface="Avenir Next"/>
              </a:rPr>
              <a:t>contact et localisation de chaque 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Reçu &amp; preuve</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Reçu bénéficiaire et cachet électronique de la preuve</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09</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5_recu.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Reçu simplifié</a:t>
            </a:r>
          </a:p>
          <a:p>
            <a:pPr algn="l">
              <a:lnSpc>
                <a:spcPct val="108000"/>
              </a:lnSpc>
              <a:spcBef>
                <a:spcPts val="0"/>
              </a:spcBef>
              <a:spcAft>
                <a:spcPts val="200"/>
              </a:spcAft>
            </a:pPr>
            <a:r>
              <a:rPr sz="1150" b="0">
                <a:solidFill>
                  <a:srgbClr val="5B6577"/>
                </a:solidFill>
                <a:latin typeface="Avenir Next"/>
              </a:rPr>
              <a:t>remis au bénéficiaire, avec QR de suivi.</a:t>
            </a:r>
          </a:p>
        </p:txBody>
      </p:sp>
      <p:sp>
        <p:nvSpPr>
          <p:cNvPr id="14" name="Rounded Rectangle 13"/>
          <p:cNvSpPr/>
          <p:nvPr/>
        </p:nvSpPr>
        <p:spPr>
          <a:xfrm>
            <a:off x="8549640" y="2478024"/>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459736"/>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Cachet électronique</a:t>
            </a:r>
          </a:p>
          <a:p>
            <a:pPr algn="l">
              <a:lnSpc>
                <a:spcPct val="108000"/>
              </a:lnSpc>
              <a:spcBef>
                <a:spcPts val="0"/>
              </a:spcBef>
              <a:spcAft>
                <a:spcPts val="200"/>
              </a:spcAft>
            </a:pPr>
            <a:r>
              <a:rPr sz="1150" b="0">
                <a:solidFill>
                  <a:srgbClr val="5B6577"/>
                </a:solidFill>
                <a:latin typeface="Avenir Next"/>
              </a:rPr>
              <a:t>empreinte SHA-256 + signature via la Cryptologie ANSUT.</a:t>
            </a:r>
          </a:p>
        </p:txBody>
      </p:sp>
      <p:sp>
        <p:nvSpPr>
          <p:cNvPr id="16" name="Rounded Rectangle 15"/>
          <p:cNvSpPr/>
          <p:nvPr/>
        </p:nvSpPr>
        <p:spPr>
          <a:xfrm>
            <a:off x="8549640" y="3579875"/>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561587"/>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Dossier probant</a:t>
            </a:r>
          </a:p>
          <a:p>
            <a:pPr algn="l">
              <a:lnSpc>
                <a:spcPct val="108000"/>
              </a:lnSpc>
              <a:spcBef>
                <a:spcPts val="0"/>
              </a:spcBef>
              <a:spcAft>
                <a:spcPts val="200"/>
              </a:spcAft>
            </a:pPr>
            <a:r>
              <a:rPr sz="1150" b="0">
                <a:solidFill>
                  <a:srgbClr val="5B6577"/>
                </a:solidFill>
                <a:latin typeface="Avenir Next"/>
              </a:rPr>
              <a:t>conservé séparément, inaltérable et opposable.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Supervision</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Indicateurs de service, audit et conformité</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10</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6_supervision.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Délais (SLA)</a:t>
            </a:r>
          </a:p>
          <a:p>
            <a:pPr algn="l">
              <a:lnSpc>
                <a:spcPct val="108000"/>
              </a:lnSpc>
              <a:spcBef>
                <a:spcPts val="0"/>
              </a:spcBef>
              <a:spcAft>
                <a:spcPts val="200"/>
              </a:spcAft>
            </a:pPr>
            <a:r>
              <a:rPr sz="1150" b="0">
                <a:solidFill>
                  <a:srgbClr val="5B6577"/>
                </a:solidFill>
                <a:latin typeface="Avenir Next"/>
              </a:rPr>
              <a:t>enrôlement, réponse, remise — suivis en continu.</a:t>
            </a:r>
          </a:p>
        </p:txBody>
      </p:sp>
      <p:sp>
        <p:nvSpPr>
          <p:cNvPr id="14" name="Rounded Rectangle 13"/>
          <p:cNvSpPr/>
          <p:nvPr/>
        </p:nvSpPr>
        <p:spPr>
          <a:xfrm>
            <a:off x="8549640" y="2478024"/>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459736"/>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Audit inaltérable</a:t>
            </a:r>
          </a:p>
          <a:p>
            <a:pPr algn="l">
              <a:lnSpc>
                <a:spcPct val="108000"/>
              </a:lnSpc>
              <a:spcBef>
                <a:spcPts val="0"/>
              </a:spcBef>
              <a:spcAft>
                <a:spcPts val="200"/>
              </a:spcAft>
            </a:pPr>
            <a:r>
              <a:rPr sz="1150" b="0">
                <a:solidFill>
                  <a:srgbClr val="5B6577"/>
                </a:solidFill>
                <a:latin typeface="Avenir Next"/>
              </a:rPr>
              <a:t>chaque acte horodaté, en ajout seul.</a:t>
            </a:r>
          </a:p>
        </p:txBody>
      </p:sp>
      <p:sp>
        <p:nvSpPr>
          <p:cNvPr id="16" name="Rounded Rectangle 15"/>
          <p:cNvSpPr/>
          <p:nvPr/>
        </p:nvSpPr>
        <p:spPr>
          <a:xfrm>
            <a:off x="8549640" y="3364992"/>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346704"/>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Règles en base</a:t>
            </a:r>
          </a:p>
          <a:p>
            <a:pPr algn="l">
              <a:lnSpc>
                <a:spcPct val="108000"/>
              </a:lnSpc>
              <a:spcBef>
                <a:spcPts val="0"/>
              </a:spcBef>
              <a:spcAft>
                <a:spcPts val="200"/>
              </a:spcAft>
            </a:pPr>
            <a:r>
              <a:rPr sz="1150" b="0">
                <a:solidFill>
                  <a:srgbClr val="5B6577"/>
                </a:solidFill>
                <a:latin typeface="Avenir Next"/>
              </a:rPr>
              <a:t>non-cumul, décision unique, quota — garantis.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Logistique — chaîne d'approvisionnement</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Du fournisseur au bénéficiaire : chaque terminal tracé par son IMEI</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11</a:t>
            </a:r>
          </a:p>
        </p:txBody>
      </p:sp>
      <p:sp>
        <p:nvSpPr>
          <p:cNvPr id="10" name="TextBox 9"/>
          <p:cNvSpPr txBox="1"/>
          <p:nvPr/>
        </p:nvSpPr>
        <p:spPr>
          <a:xfrm>
            <a:off x="749808" y="1463040"/>
            <a:ext cx="10698480" cy="502920"/>
          </a:xfrm>
          <a:prstGeom prst="rect">
            <a:avLst/>
          </a:prstGeom>
          <a:noFill/>
        </p:spPr>
        <p:txBody>
          <a:bodyPr wrap="square" anchor="t" lIns="0" rIns="0" tIns="0" bIns="0">
            <a:spAutoFit/>
          </a:bodyPr>
          <a:lstStyle/>
          <a:p>
            <a:pPr algn="l">
              <a:lnSpc>
                <a:spcPct val="115000"/>
              </a:lnSpc>
              <a:spcBef>
                <a:spcPts val="0"/>
              </a:spcBef>
              <a:spcAft>
                <a:spcPts val="400"/>
              </a:spcAft>
            </a:pPr>
            <a:r>
              <a:rPr sz="1350" b="0">
                <a:solidFill>
                  <a:srgbClr val="5B6577"/>
                </a:solidFill>
                <a:latin typeface="Avenir Next"/>
              </a:rPr>
              <a:t>La plateforme gère toute la chaîne amont, avec traçabilité par IMEI et journal des mouvements. Chaque écriture est faite en base et réservée au superviseur.</a:t>
            </a:r>
          </a:p>
        </p:txBody>
      </p:sp>
      <p:sp>
        <p:nvSpPr>
          <p:cNvPr id="11" name="Rounded Rectangle 10"/>
          <p:cNvSpPr/>
          <p:nvPr/>
        </p:nvSpPr>
        <p:spPr>
          <a:xfrm>
            <a:off x="749808" y="2286000"/>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87552" y="2523744"/>
            <a:ext cx="457200" cy="457200"/>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2578608"/>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1</a:t>
            </a:r>
          </a:p>
        </p:txBody>
      </p:sp>
      <p:sp>
        <p:nvSpPr>
          <p:cNvPr id="14" name="TextBox 13"/>
          <p:cNvSpPr txBox="1"/>
          <p:nvPr/>
        </p:nvSpPr>
        <p:spPr>
          <a:xfrm>
            <a:off x="1005840" y="3127248"/>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Commande</a:t>
            </a:r>
          </a:p>
        </p:txBody>
      </p:sp>
      <p:sp>
        <p:nvSpPr>
          <p:cNvPr id="15" name="TextBox 14"/>
          <p:cNvSpPr txBox="1"/>
          <p:nvPr/>
        </p:nvSpPr>
        <p:spPr>
          <a:xfrm>
            <a:off x="1005840" y="3456432"/>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Bon de commande au fournisseur</a:t>
            </a:r>
          </a:p>
        </p:txBody>
      </p:sp>
      <p:sp>
        <p:nvSpPr>
          <p:cNvPr id="16" name="Chevron 15"/>
          <p:cNvSpPr/>
          <p:nvPr/>
        </p:nvSpPr>
        <p:spPr>
          <a:xfrm>
            <a:off x="3346704" y="2944368"/>
            <a:ext cx="182880" cy="384048"/>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29584" y="2286000"/>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67328" y="2523744"/>
            <a:ext cx="457200" cy="457200"/>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7328" y="2578608"/>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2</a:t>
            </a:r>
          </a:p>
        </p:txBody>
      </p:sp>
      <p:sp>
        <p:nvSpPr>
          <p:cNvPr id="20" name="TextBox 19"/>
          <p:cNvSpPr txBox="1"/>
          <p:nvPr/>
        </p:nvSpPr>
        <p:spPr>
          <a:xfrm>
            <a:off x="3785616" y="3127248"/>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Arrivage</a:t>
            </a:r>
          </a:p>
        </p:txBody>
      </p:sp>
      <p:sp>
        <p:nvSpPr>
          <p:cNvPr id="21" name="TextBox 20"/>
          <p:cNvSpPr txBox="1"/>
          <p:nvPr/>
        </p:nvSpPr>
        <p:spPr>
          <a:xfrm>
            <a:off x="3785616" y="3456432"/>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Liste de colisage reçue</a:t>
            </a:r>
          </a:p>
        </p:txBody>
      </p:sp>
      <p:sp>
        <p:nvSpPr>
          <p:cNvPr id="22" name="Chevron 21"/>
          <p:cNvSpPr/>
          <p:nvPr/>
        </p:nvSpPr>
        <p:spPr>
          <a:xfrm>
            <a:off x="6126480" y="2944368"/>
            <a:ext cx="182880" cy="384048"/>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09360" y="2286000"/>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47104" y="2523744"/>
            <a:ext cx="457200" cy="457200"/>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47104" y="2578608"/>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3</a:t>
            </a:r>
          </a:p>
        </p:txBody>
      </p:sp>
      <p:sp>
        <p:nvSpPr>
          <p:cNvPr id="26" name="TextBox 25"/>
          <p:cNvSpPr txBox="1"/>
          <p:nvPr/>
        </p:nvSpPr>
        <p:spPr>
          <a:xfrm>
            <a:off x="6565392" y="3127248"/>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Réception</a:t>
            </a:r>
          </a:p>
        </p:txBody>
      </p:sp>
      <p:sp>
        <p:nvSpPr>
          <p:cNvPr id="27" name="TextBox 26"/>
          <p:cNvSpPr txBox="1"/>
          <p:nvPr/>
        </p:nvSpPr>
        <p:spPr>
          <a:xfrm>
            <a:off x="6565392" y="3456432"/>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Scan des colis + écarts</a:t>
            </a:r>
          </a:p>
        </p:txBody>
      </p:sp>
      <p:sp>
        <p:nvSpPr>
          <p:cNvPr id="28" name="Chevron 27"/>
          <p:cNvSpPr/>
          <p:nvPr/>
        </p:nvSpPr>
        <p:spPr>
          <a:xfrm>
            <a:off x="8906256" y="2944368"/>
            <a:ext cx="182880" cy="384048"/>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89136" y="2286000"/>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326880" y="2523744"/>
            <a:ext cx="457200" cy="457200"/>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2578608"/>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4</a:t>
            </a:r>
          </a:p>
        </p:txBody>
      </p:sp>
      <p:sp>
        <p:nvSpPr>
          <p:cNvPr id="32" name="TextBox 31"/>
          <p:cNvSpPr txBox="1"/>
          <p:nvPr/>
        </p:nvSpPr>
        <p:spPr>
          <a:xfrm>
            <a:off x="9345168" y="3127248"/>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Entrepôt</a:t>
            </a:r>
          </a:p>
        </p:txBody>
      </p:sp>
      <p:sp>
        <p:nvSpPr>
          <p:cNvPr id="33" name="TextBox 32"/>
          <p:cNvSpPr txBox="1"/>
          <p:nvPr/>
        </p:nvSpPr>
        <p:spPr>
          <a:xfrm>
            <a:off x="9345168" y="3456432"/>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Rangement par emplacement</a:t>
            </a:r>
          </a:p>
        </p:txBody>
      </p:sp>
      <p:sp>
        <p:nvSpPr>
          <p:cNvPr id="34" name="Rounded Rectangle 33"/>
          <p:cNvSpPr/>
          <p:nvPr/>
        </p:nvSpPr>
        <p:spPr>
          <a:xfrm>
            <a:off x="749808" y="4224528"/>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87552" y="4462272"/>
            <a:ext cx="457200" cy="457200"/>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552" y="4517136"/>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5</a:t>
            </a:r>
          </a:p>
        </p:txBody>
      </p:sp>
      <p:sp>
        <p:nvSpPr>
          <p:cNvPr id="37" name="TextBox 36"/>
          <p:cNvSpPr txBox="1"/>
          <p:nvPr/>
        </p:nvSpPr>
        <p:spPr>
          <a:xfrm>
            <a:off x="1005840" y="5065776"/>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Transfert</a:t>
            </a:r>
          </a:p>
        </p:txBody>
      </p:sp>
      <p:sp>
        <p:nvSpPr>
          <p:cNvPr id="38" name="TextBox 37"/>
          <p:cNvSpPr txBox="1"/>
          <p:nvPr/>
        </p:nvSpPr>
        <p:spPr>
          <a:xfrm>
            <a:off x="1005840" y="5394960"/>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Bon de sortie vers un point</a:t>
            </a:r>
          </a:p>
        </p:txBody>
      </p:sp>
      <p:sp>
        <p:nvSpPr>
          <p:cNvPr id="39" name="Chevron 38"/>
          <p:cNvSpPr/>
          <p:nvPr/>
        </p:nvSpPr>
        <p:spPr>
          <a:xfrm>
            <a:off x="3346704" y="4882896"/>
            <a:ext cx="182880" cy="384048"/>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529584" y="4224528"/>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767328" y="4462272"/>
            <a:ext cx="457200" cy="457200"/>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67328" y="4517136"/>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6</a:t>
            </a:r>
          </a:p>
        </p:txBody>
      </p:sp>
      <p:sp>
        <p:nvSpPr>
          <p:cNvPr id="43" name="TextBox 42"/>
          <p:cNvSpPr txBox="1"/>
          <p:nvPr/>
        </p:nvSpPr>
        <p:spPr>
          <a:xfrm>
            <a:off x="3785616" y="5065776"/>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Point mobile</a:t>
            </a:r>
          </a:p>
        </p:txBody>
      </p:sp>
      <p:sp>
        <p:nvSpPr>
          <p:cNvPr id="44" name="TextBox 43"/>
          <p:cNvSpPr txBox="1"/>
          <p:nvPr/>
        </p:nvSpPr>
        <p:spPr>
          <a:xfrm>
            <a:off x="3785616" y="5394960"/>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Ouverture de campagne + équipe</a:t>
            </a:r>
          </a:p>
        </p:txBody>
      </p:sp>
      <p:sp>
        <p:nvSpPr>
          <p:cNvPr id="45" name="Chevron 44"/>
          <p:cNvSpPr/>
          <p:nvPr/>
        </p:nvSpPr>
        <p:spPr>
          <a:xfrm>
            <a:off x="6126480" y="4882896"/>
            <a:ext cx="182880" cy="384048"/>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309360" y="4224528"/>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547104" y="4462272"/>
            <a:ext cx="457200" cy="457200"/>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47104" y="4517136"/>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7</a:t>
            </a:r>
          </a:p>
        </p:txBody>
      </p:sp>
      <p:sp>
        <p:nvSpPr>
          <p:cNvPr id="49" name="TextBox 48"/>
          <p:cNvSpPr txBox="1"/>
          <p:nvPr/>
        </p:nvSpPr>
        <p:spPr>
          <a:xfrm>
            <a:off x="6565392" y="5065776"/>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Mission</a:t>
            </a:r>
          </a:p>
        </p:txBody>
      </p:sp>
      <p:sp>
        <p:nvSpPr>
          <p:cNvPr id="50" name="TextBox 49"/>
          <p:cNvSpPr txBox="1"/>
          <p:nvPr/>
        </p:nvSpPr>
        <p:spPr>
          <a:xfrm>
            <a:off x="6565392" y="5394960"/>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Déploiement géolocalisé</a:t>
            </a:r>
          </a:p>
        </p:txBody>
      </p:sp>
      <p:sp>
        <p:nvSpPr>
          <p:cNvPr id="51" name="Chevron 50"/>
          <p:cNvSpPr/>
          <p:nvPr/>
        </p:nvSpPr>
        <p:spPr>
          <a:xfrm>
            <a:off x="8906256" y="4882896"/>
            <a:ext cx="182880" cy="384048"/>
          </a:xfrm>
          <a:prstGeom prst="chevron">
            <a:avLst/>
          </a:prstGeom>
          <a:solidFill>
            <a:srgbClr val="C9D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9089136" y="4224528"/>
            <a:ext cx="2615184" cy="17373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326880" y="4462272"/>
            <a:ext cx="457200" cy="457200"/>
          </a:xfrm>
          <a:prstGeom prst="roundRect">
            <a:avLst>
              <a:gd name="adj" fmla="val 50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26880" y="4517136"/>
            <a:ext cx="457200" cy="365760"/>
          </a:xfrm>
          <a:prstGeom prst="rect">
            <a:avLst/>
          </a:prstGeom>
          <a:noFill/>
        </p:spPr>
        <p:txBody>
          <a:bodyPr wrap="square" anchor="t" lIns="0" rIns="0" tIns="0" bIns="0">
            <a:spAutoFit/>
          </a:bodyPr>
          <a:lstStyle/>
          <a:p>
            <a:pPr algn="ctr">
              <a:lnSpc>
                <a:spcPct val="100000"/>
              </a:lnSpc>
              <a:spcBef>
                <a:spcPts val="0"/>
              </a:spcBef>
              <a:spcAft>
                <a:spcPts val="400"/>
              </a:spcAft>
            </a:pPr>
            <a:r>
              <a:rPr sz="1700" b="1">
                <a:solidFill>
                  <a:srgbClr val="FFFFFF"/>
                </a:solidFill>
                <a:latin typeface="Avenir Next"/>
              </a:rPr>
              <a:t>8</a:t>
            </a:r>
          </a:p>
        </p:txBody>
      </p:sp>
      <p:sp>
        <p:nvSpPr>
          <p:cNvPr id="55" name="TextBox 54"/>
          <p:cNvSpPr txBox="1"/>
          <p:nvPr/>
        </p:nvSpPr>
        <p:spPr>
          <a:xfrm>
            <a:off x="9345168" y="5065776"/>
            <a:ext cx="2157984"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Rapport</a:t>
            </a:r>
          </a:p>
        </p:txBody>
      </p:sp>
      <p:sp>
        <p:nvSpPr>
          <p:cNvPr id="56" name="TextBox 55"/>
          <p:cNvSpPr txBox="1"/>
          <p:nvPr/>
        </p:nvSpPr>
        <p:spPr>
          <a:xfrm>
            <a:off x="9345168" y="5394960"/>
            <a:ext cx="2139696" cy="548640"/>
          </a:xfrm>
          <a:prstGeom prst="rect">
            <a:avLst/>
          </a:prstGeom>
          <a:noFill/>
        </p:spPr>
        <p:txBody>
          <a:bodyPr wrap="square" anchor="t" lIns="0" rIns="0" tIns="0" bIns="0">
            <a:spAutoFit/>
          </a:bodyPr>
          <a:lstStyle/>
          <a:p>
            <a:pPr algn="l">
              <a:lnSpc>
                <a:spcPct val="105000"/>
              </a:lnSpc>
              <a:spcBef>
                <a:spcPts val="0"/>
              </a:spcBef>
              <a:spcAft>
                <a:spcPts val="400"/>
              </a:spcAft>
            </a:pPr>
            <a:r>
              <a:rPr sz="1100" b="0">
                <a:solidFill>
                  <a:srgbClr val="5B6577"/>
                </a:solidFill>
                <a:latin typeface="Avenir Next"/>
              </a:rPr>
              <a:t>Distribués, retours, stock restant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Logistique</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Chaîne d'approvisionnement — tableau de bord</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12</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8_logistique_bord.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Vue consolidée</a:t>
            </a:r>
          </a:p>
          <a:p>
            <a:pPr algn="l">
              <a:lnSpc>
                <a:spcPct val="108000"/>
              </a:lnSpc>
              <a:spcBef>
                <a:spcPts val="0"/>
              </a:spcBef>
              <a:spcAft>
                <a:spcPts val="200"/>
              </a:spcAft>
            </a:pPr>
            <a:r>
              <a:rPr sz="1150" b="0">
                <a:solidFill>
                  <a:srgbClr val="5B6577"/>
                </a:solidFill>
                <a:latin typeface="Avenir Next"/>
              </a:rPr>
              <a:t>colis attendus/reçus, écarts, stock entrepôt et points.</a:t>
            </a:r>
          </a:p>
        </p:txBody>
      </p:sp>
      <p:sp>
        <p:nvSpPr>
          <p:cNvPr id="14" name="Rounded Rectangle 13"/>
          <p:cNvSpPr/>
          <p:nvPr/>
        </p:nvSpPr>
        <p:spPr>
          <a:xfrm>
            <a:off x="8549640" y="2692907"/>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674619"/>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État du stock</a:t>
            </a:r>
          </a:p>
          <a:p>
            <a:pPr algn="l">
              <a:lnSpc>
                <a:spcPct val="108000"/>
              </a:lnSpc>
              <a:spcBef>
                <a:spcPts val="0"/>
              </a:spcBef>
              <a:spcAft>
                <a:spcPts val="200"/>
              </a:spcAft>
            </a:pPr>
            <a:r>
              <a:rPr sz="1150" b="0">
                <a:solidFill>
                  <a:srgbClr val="5B6577"/>
                </a:solidFill>
                <a:latin typeface="Avenir Next"/>
              </a:rPr>
              <a:t>par lieu et par modèle, entrepôt comme points.</a:t>
            </a:r>
          </a:p>
        </p:txBody>
      </p:sp>
      <p:sp>
        <p:nvSpPr>
          <p:cNvPr id="16" name="Rounded Rectangle 15"/>
          <p:cNvSpPr/>
          <p:nvPr/>
        </p:nvSpPr>
        <p:spPr>
          <a:xfrm>
            <a:off x="8549640" y="3579875"/>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561587"/>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Mouvements</a:t>
            </a:r>
          </a:p>
          <a:p>
            <a:pPr algn="l">
              <a:lnSpc>
                <a:spcPct val="108000"/>
              </a:lnSpc>
              <a:spcBef>
                <a:spcPts val="0"/>
              </a:spcBef>
              <a:spcAft>
                <a:spcPts val="200"/>
              </a:spcAft>
            </a:pPr>
            <a:r>
              <a:rPr sz="1150" b="0">
                <a:solidFill>
                  <a:srgbClr val="5B6577"/>
                </a:solidFill>
                <a:latin typeface="Avenir Next"/>
              </a:rPr>
              <a:t>réception, rangement, transfert, retour — tout tracé.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Écran · Commandes fournisseurs</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Du bon de commande à la livraison</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13</a:t>
            </a:r>
          </a:p>
        </p:txBody>
      </p:sp>
      <p:sp>
        <p:nvSpPr>
          <p:cNvPr id="10" name="Rounded Rectangle 9"/>
          <p:cNvSpPr/>
          <p:nvPr/>
        </p:nvSpPr>
        <p:spPr>
          <a:xfrm>
            <a:off x="721317" y="1472328"/>
            <a:ext cx="7381326" cy="468144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7_logistique_commandes.png"/>
          <p:cNvPicPr>
            <a:picLocks noChangeAspect="1"/>
          </p:cNvPicPr>
          <p:nvPr/>
        </p:nvPicPr>
        <p:blipFill>
          <a:blip r:embed="rId2"/>
          <a:stretch>
            <a:fillRect/>
          </a:stretch>
        </p:blipFill>
        <p:spPr>
          <a:xfrm>
            <a:off x="730317" y="1481328"/>
            <a:ext cx="7363326" cy="4663440"/>
          </a:xfrm>
          <a:prstGeom prst="rect">
            <a:avLst/>
          </a:prstGeom>
          <a:ln w="9525">
            <a:solidFill>
              <a:srgbClr val="E4E9F1"/>
            </a:solidFill>
          </a:ln>
        </p:spPr>
      </p:pic>
      <p:sp>
        <p:nvSpPr>
          <p:cNvPr id="12" name="Rounded Rectangle 11"/>
          <p:cNvSpPr/>
          <p:nvPr/>
        </p:nvSpPr>
        <p:spPr>
          <a:xfrm>
            <a:off x="8549640" y="1591056"/>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1572768"/>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Bon de commande</a:t>
            </a:r>
          </a:p>
          <a:p>
            <a:pPr algn="l">
              <a:lnSpc>
                <a:spcPct val="108000"/>
              </a:lnSpc>
              <a:spcBef>
                <a:spcPts val="0"/>
              </a:spcBef>
              <a:spcAft>
                <a:spcPts val="200"/>
              </a:spcAft>
            </a:pPr>
            <a:r>
              <a:rPr sz="1150" b="0">
                <a:solidFill>
                  <a:srgbClr val="5B6577"/>
                </a:solidFill>
                <a:latin typeface="Avenir Next"/>
              </a:rPr>
              <a:t>fournisseur, lignes, prix, montant total calculé.</a:t>
            </a:r>
          </a:p>
        </p:txBody>
      </p:sp>
      <p:sp>
        <p:nvSpPr>
          <p:cNvPr id="14" name="Rounded Rectangle 13"/>
          <p:cNvSpPr/>
          <p:nvPr/>
        </p:nvSpPr>
        <p:spPr>
          <a:xfrm>
            <a:off x="8549640" y="2478024"/>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459736"/>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Cycle de vie</a:t>
            </a:r>
          </a:p>
          <a:p>
            <a:pPr algn="l">
              <a:lnSpc>
                <a:spcPct val="108000"/>
              </a:lnSpc>
              <a:spcBef>
                <a:spcPts val="0"/>
              </a:spcBef>
              <a:spcAft>
                <a:spcPts val="200"/>
              </a:spcAft>
            </a:pPr>
            <a:r>
              <a:rPr sz="1150" b="0">
                <a:solidFill>
                  <a:srgbClr val="5B6577"/>
                </a:solidFill>
                <a:latin typeface="Avenir Next"/>
              </a:rPr>
              <a:t>brouillon → envoyée → confirmée → livrée.</a:t>
            </a:r>
          </a:p>
        </p:txBody>
      </p:sp>
      <p:sp>
        <p:nvSpPr>
          <p:cNvPr id="16" name="Rounded Rectangle 15"/>
          <p:cNvSpPr/>
          <p:nvPr/>
        </p:nvSpPr>
        <p:spPr>
          <a:xfrm>
            <a:off x="8549640" y="3364992"/>
            <a:ext cx="118872" cy="118872"/>
          </a:xfrm>
          <a:prstGeom prst="roundRect">
            <a:avLst>
              <a:gd name="adj" fmla="val 6000"/>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346704"/>
            <a:ext cx="2880360" cy="822960"/>
          </a:xfrm>
          <a:prstGeom prst="rect">
            <a:avLst/>
          </a:prstGeom>
          <a:noFill/>
        </p:spPr>
        <p:txBody>
          <a:bodyPr wrap="square" anchor="t" lIns="0" rIns="0" tIns="0" bIns="0">
            <a:spAutoFit/>
          </a:bodyPr>
          <a:lstStyle/>
          <a:p>
            <a:pPr algn="l">
              <a:lnSpc>
                <a:spcPct val="108000"/>
              </a:lnSpc>
              <a:spcBef>
                <a:spcPts val="0"/>
              </a:spcBef>
              <a:spcAft>
                <a:spcPts val="200"/>
              </a:spcAft>
            </a:pPr>
            <a:r>
              <a:rPr sz="1250" b="1">
                <a:solidFill>
                  <a:srgbClr val="1A4382"/>
                </a:solidFill>
                <a:latin typeface="Avenir Next"/>
              </a:rPr>
              <a:t>Rapprochement</a:t>
            </a:r>
          </a:p>
          <a:p>
            <a:pPr algn="l">
              <a:lnSpc>
                <a:spcPct val="108000"/>
              </a:lnSpc>
              <a:spcBef>
                <a:spcPts val="0"/>
              </a:spcBef>
              <a:spcAft>
                <a:spcPts val="200"/>
              </a:spcAft>
            </a:pPr>
            <a:r>
              <a:rPr sz="1150" b="0">
                <a:solidFill>
                  <a:srgbClr val="5B6577"/>
                </a:solidFill>
                <a:latin typeface="Avenir Next"/>
              </a:rPr>
              <a:t>l'arrivage se rattache à la commande d'origine.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Garanties de confiance</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Les règles ne sont pas des écrans — elles sont dans la base de données</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14</a:t>
            </a:r>
          </a:p>
        </p:txBody>
      </p:sp>
      <p:sp>
        <p:nvSpPr>
          <p:cNvPr id="10" name="TextBox 9"/>
          <p:cNvSpPr txBox="1"/>
          <p:nvPr/>
        </p:nvSpPr>
        <p:spPr>
          <a:xfrm>
            <a:off x="749808" y="1481328"/>
            <a:ext cx="10698480" cy="640080"/>
          </a:xfrm>
          <a:prstGeom prst="rect">
            <a:avLst/>
          </a:prstGeom>
          <a:noFill/>
        </p:spPr>
        <p:txBody>
          <a:bodyPr wrap="square" anchor="t" lIns="0" rIns="0" tIns="0" bIns="0">
            <a:spAutoFit/>
          </a:bodyPr>
          <a:lstStyle/>
          <a:p>
            <a:pPr algn="l">
              <a:lnSpc>
                <a:spcPct val="115000"/>
              </a:lnSpc>
              <a:spcBef>
                <a:spcPts val="0"/>
              </a:spcBef>
              <a:spcAft>
                <a:spcPts val="400"/>
              </a:spcAft>
            </a:pPr>
            <a:r>
              <a:rPr sz="1400" b="0">
                <a:solidFill>
                  <a:srgbClr val="5B6577"/>
                </a:solidFill>
                <a:latin typeface="Avenir Next"/>
              </a:rPr>
              <a:t>Un contrôle affiché à l'écran peut être contourné. Une règle inscrite en base ne l'est pas : même un appel technique direct est rejeté. C'est le socle de l'intégrité du programme.</a:t>
            </a:r>
          </a:p>
        </p:txBody>
      </p:sp>
      <p:sp>
        <p:nvSpPr>
          <p:cNvPr id="11" name="Rounded Rectangle 10"/>
          <p:cNvSpPr/>
          <p:nvPr/>
        </p:nvSpPr>
        <p:spPr>
          <a:xfrm>
            <a:off x="749808" y="2468880"/>
            <a:ext cx="5257800" cy="987552"/>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87552" y="2743200"/>
            <a:ext cx="420624" cy="420624"/>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2752344"/>
            <a:ext cx="420624" cy="402336"/>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1E9E62"/>
                </a:solidFill>
                <a:latin typeface="Avenir Next"/>
              </a:rPr>
              <a:t>✓</a:t>
            </a:r>
          </a:p>
        </p:txBody>
      </p:sp>
      <p:sp>
        <p:nvSpPr>
          <p:cNvPr id="14" name="TextBox 13"/>
          <p:cNvSpPr txBox="1"/>
          <p:nvPr/>
        </p:nvSpPr>
        <p:spPr>
          <a:xfrm>
            <a:off x="1572768" y="2651760"/>
            <a:ext cx="42519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Non-cumul garanti</a:t>
            </a:r>
          </a:p>
        </p:txBody>
      </p:sp>
      <p:sp>
        <p:nvSpPr>
          <p:cNvPr id="15" name="TextBox 14"/>
          <p:cNvSpPr txBox="1"/>
          <p:nvPr/>
        </p:nvSpPr>
        <p:spPr>
          <a:xfrm>
            <a:off x="1572768" y="2980944"/>
            <a:ext cx="4251960"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a:solidFill>
                  <a:srgbClr val="5B6577"/>
                </a:solidFill>
                <a:latin typeface="Avenir Next"/>
              </a:rPr>
              <a:t>une seule demande par personne et par campagne.</a:t>
            </a:r>
          </a:p>
        </p:txBody>
      </p:sp>
      <p:sp>
        <p:nvSpPr>
          <p:cNvPr id="16" name="Rounded Rectangle 15"/>
          <p:cNvSpPr/>
          <p:nvPr/>
        </p:nvSpPr>
        <p:spPr>
          <a:xfrm>
            <a:off x="6190488" y="2468880"/>
            <a:ext cx="5257800" cy="987552"/>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28232" y="2743200"/>
            <a:ext cx="420624" cy="420624"/>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2752344"/>
            <a:ext cx="420624" cy="402336"/>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1E9E62"/>
                </a:solidFill>
                <a:latin typeface="Avenir Next"/>
              </a:rPr>
              <a:t>✓</a:t>
            </a:r>
          </a:p>
        </p:txBody>
      </p:sp>
      <p:sp>
        <p:nvSpPr>
          <p:cNvPr id="19" name="TextBox 18"/>
          <p:cNvSpPr txBox="1"/>
          <p:nvPr/>
        </p:nvSpPr>
        <p:spPr>
          <a:xfrm>
            <a:off x="7013448" y="2651760"/>
            <a:ext cx="42519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Décision irréversible</a:t>
            </a:r>
          </a:p>
        </p:txBody>
      </p:sp>
      <p:sp>
        <p:nvSpPr>
          <p:cNvPr id="20" name="TextBox 19"/>
          <p:cNvSpPr txBox="1"/>
          <p:nvPr/>
        </p:nvSpPr>
        <p:spPr>
          <a:xfrm>
            <a:off x="7013448" y="2980944"/>
            <a:ext cx="4251960"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a:solidFill>
                  <a:srgbClr val="5B6577"/>
                </a:solidFill>
                <a:latin typeface="Avenir Next"/>
              </a:rPr>
              <a:t>une fois prise, une décision ne peut plus être modifiée.</a:t>
            </a:r>
          </a:p>
        </p:txBody>
      </p:sp>
      <p:sp>
        <p:nvSpPr>
          <p:cNvPr id="21" name="Rounded Rectangle 20"/>
          <p:cNvSpPr/>
          <p:nvPr/>
        </p:nvSpPr>
        <p:spPr>
          <a:xfrm>
            <a:off x="749808" y="3611880"/>
            <a:ext cx="5257800" cy="987552"/>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87552" y="3886200"/>
            <a:ext cx="420624" cy="420624"/>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3895344"/>
            <a:ext cx="420624" cy="402336"/>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1E9E62"/>
                </a:solidFill>
                <a:latin typeface="Avenir Next"/>
              </a:rPr>
              <a:t>✓</a:t>
            </a:r>
          </a:p>
        </p:txBody>
      </p:sp>
      <p:sp>
        <p:nvSpPr>
          <p:cNvPr id="24" name="TextBox 23"/>
          <p:cNvSpPr txBox="1"/>
          <p:nvPr/>
        </p:nvSpPr>
        <p:spPr>
          <a:xfrm>
            <a:off x="1572768" y="3794760"/>
            <a:ext cx="42519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Identifiants uniques</a:t>
            </a:r>
          </a:p>
        </p:txBody>
      </p:sp>
      <p:sp>
        <p:nvSpPr>
          <p:cNvPr id="25" name="TextBox 24"/>
          <p:cNvSpPr txBox="1"/>
          <p:nvPr/>
        </p:nvSpPr>
        <p:spPr>
          <a:xfrm>
            <a:off x="1572768" y="4123944"/>
            <a:ext cx="4251960"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a:solidFill>
                  <a:srgbClr val="5B6577"/>
                </a:solidFill>
                <a:latin typeface="Avenir Next"/>
              </a:rPr>
              <a:t>CNI et IMEI ne peuvent exister en double.</a:t>
            </a:r>
          </a:p>
        </p:txBody>
      </p:sp>
      <p:sp>
        <p:nvSpPr>
          <p:cNvPr id="26" name="Rounded Rectangle 25"/>
          <p:cNvSpPr/>
          <p:nvPr/>
        </p:nvSpPr>
        <p:spPr>
          <a:xfrm>
            <a:off x="6190488" y="3611880"/>
            <a:ext cx="5257800" cy="987552"/>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28232" y="3886200"/>
            <a:ext cx="420624" cy="420624"/>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895344"/>
            <a:ext cx="420624" cy="402336"/>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1E9E62"/>
                </a:solidFill>
                <a:latin typeface="Avenir Next"/>
              </a:rPr>
              <a:t>✓</a:t>
            </a:r>
          </a:p>
        </p:txBody>
      </p:sp>
      <p:sp>
        <p:nvSpPr>
          <p:cNvPr id="29" name="TextBox 28"/>
          <p:cNvSpPr txBox="1"/>
          <p:nvPr/>
        </p:nvSpPr>
        <p:spPr>
          <a:xfrm>
            <a:off x="7013448" y="3794760"/>
            <a:ext cx="42519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Preuve obligatoire</a:t>
            </a:r>
          </a:p>
        </p:txBody>
      </p:sp>
      <p:sp>
        <p:nvSpPr>
          <p:cNvPr id="30" name="TextBox 29"/>
          <p:cNvSpPr txBox="1"/>
          <p:nvPr/>
        </p:nvSpPr>
        <p:spPr>
          <a:xfrm>
            <a:off x="7013448" y="4123944"/>
            <a:ext cx="4251960"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a:solidFill>
                  <a:srgbClr val="5B6577"/>
                </a:solidFill>
                <a:latin typeface="Avenir Next"/>
              </a:rPr>
              <a:t>aucune remise sans preuve enregistrée.</a:t>
            </a:r>
          </a:p>
        </p:txBody>
      </p:sp>
      <p:sp>
        <p:nvSpPr>
          <p:cNvPr id="31" name="Rounded Rectangle 30"/>
          <p:cNvSpPr/>
          <p:nvPr/>
        </p:nvSpPr>
        <p:spPr>
          <a:xfrm>
            <a:off x="749808" y="4754880"/>
            <a:ext cx="5257800" cy="987552"/>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87552" y="5029200"/>
            <a:ext cx="420624" cy="420624"/>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038344"/>
            <a:ext cx="420624" cy="402336"/>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1E9E62"/>
                </a:solidFill>
                <a:latin typeface="Avenir Next"/>
              </a:rPr>
              <a:t>✓</a:t>
            </a:r>
          </a:p>
        </p:txBody>
      </p:sp>
      <p:sp>
        <p:nvSpPr>
          <p:cNvPr id="34" name="TextBox 33"/>
          <p:cNvSpPr txBox="1"/>
          <p:nvPr/>
        </p:nvSpPr>
        <p:spPr>
          <a:xfrm>
            <a:off x="1572768" y="4937760"/>
            <a:ext cx="42519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Quota respecté</a:t>
            </a:r>
          </a:p>
        </p:txBody>
      </p:sp>
      <p:sp>
        <p:nvSpPr>
          <p:cNvPr id="35" name="TextBox 34"/>
          <p:cNvSpPr txBox="1"/>
          <p:nvPr/>
        </p:nvSpPr>
        <p:spPr>
          <a:xfrm>
            <a:off x="1572768" y="5266944"/>
            <a:ext cx="4251960"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a:solidFill>
                  <a:srgbClr val="5B6577"/>
                </a:solidFill>
                <a:latin typeface="Avenir Next"/>
              </a:rPr>
              <a:t>impossible de dépasser le quota d'une campagne.</a:t>
            </a:r>
          </a:p>
        </p:txBody>
      </p:sp>
      <p:sp>
        <p:nvSpPr>
          <p:cNvPr id="36" name="Rounded Rectangle 35"/>
          <p:cNvSpPr/>
          <p:nvPr/>
        </p:nvSpPr>
        <p:spPr>
          <a:xfrm>
            <a:off x="6190488" y="4754880"/>
            <a:ext cx="5257800" cy="987552"/>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428232" y="5029200"/>
            <a:ext cx="420624" cy="420624"/>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28232" y="5038344"/>
            <a:ext cx="420624" cy="402336"/>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1E9E62"/>
                </a:solidFill>
                <a:latin typeface="Avenir Next"/>
              </a:rPr>
              <a:t>✓</a:t>
            </a:r>
          </a:p>
        </p:txBody>
      </p:sp>
      <p:sp>
        <p:nvSpPr>
          <p:cNvPr id="39" name="TextBox 38"/>
          <p:cNvSpPr txBox="1"/>
          <p:nvPr/>
        </p:nvSpPr>
        <p:spPr>
          <a:xfrm>
            <a:off x="7013448" y="4937760"/>
            <a:ext cx="425196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A4382"/>
                </a:solidFill>
                <a:latin typeface="Avenir Next"/>
              </a:rPr>
              <a:t>Audit en ajout seul</a:t>
            </a:r>
          </a:p>
        </p:txBody>
      </p:sp>
      <p:sp>
        <p:nvSpPr>
          <p:cNvPr id="40" name="TextBox 39"/>
          <p:cNvSpPr txBox="1"/>
          <p:nvPr/>
        </p:nvSpPr>
        <p:spPr>
          <a:xfrm>
            <a:off x="7013448" y="5266944"/>
            <a:ext cx="4251960" cy="457200"/>
          </a:xfrm>
          <a:prstGeom prst="rect">
            <a:avLst/>
          </a:prstGeom>
          <a:noFill/>
        </p:spPr>
        <p:txBody>
          <a:bodyPr wrap="square" anchor="t" lIns="0" rIns="0" tIns="0" bIns="0">
            <a:spAutoFit/>
          </a:bodyPr>
          <a:lstStyle/>
          <a:p>
            <a:pPr algn="l">
              <a:lnSpc>
                <a:spcPct val="105000"/>
              </a:lnSpc>
              <a:spcBef>
                <a:spcPts val="0"/>
              </a:spcBef>
              <a:spcAft>
                <a:spcPts val="400"/>
              </a:spcAft>
            </a:pPr>
            <a:r>
              <a:rPr sz="1150" b="0">
                <a:solidFill>
                  <a:srgbClr val="5B6577"/>
                </a:solidFill>
                <a:latin typeface="Avenir Next"/>
              </a:rPr>
              <a:t>le journal ne peut être ni modifié ni effacé.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Intégrations institutionnelles</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Raccordé aux passerelles ANSUT déjà en service</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15</a:t>
            </a:r>
          </a:p>
        </p:txBody>
      </p:sp>
      <p:sp>
        <p:nvSpPr>
          <p:cNvPr id="10" name="TextBox 9"/>
          <p:cNvSpPr txBox="1"/>
          <p:nvPr/>
        </p:nvSpPr>
        <p:spPr>
          <a:xfrm>
            <a:off x="749808" y="1481328"/>
            <a:ext cx="10698480" cy="548640"/>
          </a:xfrm>
          <a:prstGeom prst="rect">
            <a:avLst/>
          </a:prstGeom>
          <a:noFill/>
        </p:spPr>
        <p:txBody>
          <a:bodyPr wrap="square" anchor="t" lIns="0" rIns="0" tIns="0" bIns="0">
            <a:spAutoFit/>
          </a:bodyPr>
          <a:lstStyle/>
          <a:p>
            <a:pPr algn="l">
              <a:lnSpc>
                <a:spcPct val="115000"/>
              </a:lnSpc>
              <a:spcBef>
                <a:spcPts val="0"/>
              </a:spcBef>
              <a:spcAft>
                <a:spcPts val="400"/>
              </a:spcAft>
            </a:pPr>
            <a:r>
              <a:rPr sz="1350" b="0">
                <a:solidFill>
                  <a:srgbClr val="5B6577"/>
                </a:solidFill>
                <a:latin typeface="Avenir Next"/>
              </a:rPr>
              <a:t>La plateforme réutilise les API ANSUT existantes. La chaîne est réelle : elle bascule en mode « réel » dès que les accès sont fournis, et reste en mode « simulé » sinon — sans jamais bloquer le parcours.</a:t>
            </a:r>
          </a:p>
        </p:txBody>
      </p:sp>
      <p:sp>
        <p:nvSpPr>
          <p:cNvPr id="11" name="Rounded Rectangle 10"/>
          <p:cNvSpPr/>
          <p:nvPr/>
        </p:nvSpPr>
        <p:spPr>
          <a:xfrm>
            <a:off x="749808" y="2331720"/>
            <a:ext cx="5257800" cy="338328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331720"/>
            <a:ext cx="5257800" cy="109728"/>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 y="2642616"/>
            <a:ext cx="4709160" cy="457200"/>
          </a:xfrm>
          <a:prstGeom prst="rect">
            <a:avLst/>
          </a:prstGeom>
          <a:noFill/>
        </p:spPr>
        <p:txBody>
          <a:bodyPr wrap="square" anchor="t" lIns="0" rIns="0" tIns="0" bIns="0">
            <a:spAutoFit/>
          </a:bodyPr>
          <a:lstStyle/>
          <a:p>
            <a:pPr algn="l">
              <a:lnSpc>
                <a:spcPct val="100000"/>
              </a:lnSpc>
              <a:spcBef>
                <a:spcPts val="0"/>
              </a:spcBef>
              <a:spcAft>
                <a:spcPts val="400"/>
              </a:spcAft>
            </a:pPr>
            <a:r>
              <a:rPr sz="1650" b="1">
                <a:solidFill>
                  <a:srgbClr val="1A4382"/>
                </a:solidFill>
                <a:latin typeface="Avenir Next"/>
              </a:rPr>
              <a:t>ANSUT Hub — Messagerie</a:t>
            </a:r>
          </a:p>
        </p:txBody>
      </p:sp>
      <p:sp>
        <p:nvSpPr>
          <p:cNvPr id="14" name="TextBox 13"/>
          <p:cNvSpPr txBox="1"/>
          <p:nvPr/>
        </p:nvSpPr>
        <p:spPr>
          <a:xfrm>
            <a:off x="1042416" y="3154680"/>
            <a:ext cx="4672584" cy="914400"/>
          </a:xfrm>
          <a:prstGeom prst="rect">
            <a:avLst/>
          </a:prstGeom>
          <a:noFill/>
        </p:spPr>
        <p:txBody>
          <a:bodyPr wrap="square" anchor="t" lIns="0" rIns="0" tIns="0" bIns="0">
            <a:spAutoFit/>
          </a:bodyPr>
          <a:lstStyle/>
          <a:p>
            <a:pPr algn="l">
              <a:lnSpc>
                <a:spcPct val="112000"/>
              </a:lnSpc>
              <a:spcBef>
                <a:spcPts val="0"/>
              </a:spcBef>
              <a:spcAft>
                <a:spcPts val="400"/>
              </a:spcAft>
            </a:pPr>
            <a:r>
              <a:rPr sz="1250" b="0">
                <a:solidFill>
                  <a:srgbClr val="5B6577"/>
                </a:solidFill>
                <a:latin typeface="Avenir Next"/>
              </a:rPr>
              <a:t>Notifier réellement le bénéficiaire (ou son contact) du lieu de retrait et de la décision, par SMS, e-mail ou WhatsApp.</a:t>
            </a:r>
          </a:p>
        </p:txBody>
      </p:sp>
      <p:sp>
        <p:nvSpPr>
          <p:cNvPr id="15" name="Rounded Rectangle 14"/>
          <p:cNvSpPr/>
          <p:nvPr/>
        </p:nvSpPr>
        <p:spPr>
          <a:xfrm>
            <a:off x="1060704" y="4151376"/>
            <a:ext cx="109728" cy="109728"/>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 y="4114800"/>
            <a:ext cx="44805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a:solidFill>
                  <a:srgbClr val="1D1D1B"/>
                </a:solidFill>
                <a:latin typeface="Avenir Next"/>
              </a:rPr>
              <a:t>Chaque envoi tracé : statut et mode</a:t>
            </a:r>
          </a:p>
        </p:txBody>
      </p:sp>
      <p:sp>
        <p:nvSpPr>
          <p:cNvPr id="17" name="Rounded Rectangle 16"/>
          <p:cNvSpPr/>
          <p:nvPr/>
        </p:nvSpPr>
        <p:spPr>
          <a:xfrm>
            <a:off x="1060704" y="4553712"/>
            <a:ext cx="109728" cy="109728"/>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61872" y="4517136"/>
            <a:ext cx="44805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a:solidFill>
                  <a:srgbClr val="1D1D1B"/>
                </a:solidFill>
                <a:latin typeface="Avenir Next"/>
              </a:rPr>
              <a:t>SMS + convocation papier pour l'inclusion</a:t>
            </a:r>
          </a:p>
        </p:txBody>
      </p:sp>
      <p:sp>
        <p:nvSpPr>
          <p:cNvPr id="19" name="Rounded Rectangle 18"/>
          <p:cNvSpPr/>
          <p:nvPr/>
        </p:nvSpPr>
        <p:spPr>
          <a:xfrm>
            <a:off x="1060704" y="4956048"/>
            <a:ext cx="109728" cy="109728"/>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61872" y="4919472"/>
            <a:ext cx="44805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a:solidFill>
                  <a:srgbClr val="1D1D1B"/>
                </a:solidFill>
                <a:latin typeface="Avenir Next"/>
              </a:rPr>
              <a:t>Passerelle déjà utilisée par l'ANSUT</a:t>
            </a:r>
          </a:p>
        </p:txBody>
      </p:sp>
      <p:sp>
        <p:nvSpPr>
          <p:cNvPr id="21" name="Rounded Rectangle 20"/>
          <p:cNvSpPr/>
          <p:nvPr/>
        </p:nvSpPr>
        <p:spPr>
          <a:xfrm>
            <a:off x="6190488" y="2331720"/>
            <a:ext cx="5257800" cy="338328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0488" y="2331720"/>
            <a:ext cx="5257800" cy="1097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2642616"/>
            <a:ext cx="4709160" cy="457200"/>
          </a:xfrm>
          <a:prstGeom prst="rect">
            <a:avLst/>
          </a:prstGeom>
          <a:noFill/>
        </p:spPr>
        <p:txBody>
          <a:bodyPr wrap="square" anchor="t" lIns="0" rIns="0" tIns="0" bIns="0">
            <a:spAutoFit/>
          </a:bodyPr>
          <a:lstStyle/>
          <a:p>
            <a:pPr algn="l">
              <a:lnSpc>
                <a:spcPct val="100000"/>
              </a:lnSpc>
              <a:spcBef>
                <a:spcPts val="0"/>
              </a:spcBef>
              <a:spcAft>
                <a:spcPts val="400"/>
              </a:spcAft>
            </a:pPr>
            <a:r>
              <a:rPr sz="1650" b="1">
                <a:solidFill>
                  <a:srgbClr val="1A4382"/>
                </a:solidFill>
                <a:latin typeface="Avenir Next"/>
              </a:rPr>
              <a:t>Cryptologie ANSUT — Cachet</a:t>
            </a:r>
          </a:p>
        </p:txBody>
      </p:sp>
      <p:sp>
        <p:nvSpPr>
          <p:cNvPr id="24" name="TextBox 23"/>
          <p:cNvSpPr txBox="1"/>
          <p:nvPr/>
        </p:nvSpPr>
        <p:spPr>
          <a:xfrm>
            <a:off x="6483096" y="3154680"/>
            <a:ext cx="4672584" cy="914400"/>
          </a:xfrm>
          <a:prstGeom prst="rect">
            <a:avLst/>
          </a:prstGeom>
          <a:noFill/>
        </p:spPr>
        <p:txBody>
          <a:bodyPr wrap="square" anchor="t" lIns="0" rIns="0" tIns="0" bIns="0">
            <a:spAutoFit/>
          </a:bodyPr>
          <a:lstStyle/>
          <a:p>
            <a:pPr algn="l">
              <a:lnSpc>
                <a:spcPct val="112000"/>
              </a:lnSpc>
              <a:spcBef>
                <a:spcPts val="0"/>
              </a:spcBef>
              <a:spcAft>
                <a:spcPts val="400"/>
              </a:spcAft>
            </a:pPr>
            <a:r>
              <a:rPr sz="1250" b="0">
                <a:solidFill>
                  <a:srgbClr val="5B6577"/>
                </a:solidFill>
                <a:latin typeface="Avenir Next"/>
              </a:rPr>
              <a:t>Sceller les pièces probantes : empreinte SHA-256 du document + signature horodatée, opposable.</a:t>
            </a:r>
          </a:p>
        </p:txBody>
      </p:sp>
      <p:sp>
        <p:nvSpPr>
          <p:cNvPr id="25" name="Rounded Rectangle 24"/>
          <p:cNvSpPr/>
          <p:nvPr/>
        </p:nvSpPr>
        <p:spPr>
          <a:xfrm>
            <a:off x="6501384" y="4151376"/>
            <a:ext cx="109728" cy="109728"/>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2552" y="4114800"/>
            <a:ext cx="44805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a:solidFill>
                  <a:srgbClr val="1D1D1B"/>
                </a:solidFill>
                <a:latin typeface="Avenir Next"/>
              </a:rPr>
              <a:t>Empreinte calculée même hors ligne</a:t>
            </a:r>
          </a:p>
        </p:txBody>
      </p:sp>
      <p:sp>
        <p:nvSpPr>
          <p:cNvPr id="27" name="Rounded Rectangle 26"/>
          <p:cNvSpPr/>
          <p:nvPr/>
        </p:nvSpPr>
        <p:spPr>
          <a:xfrm>
            <a:off x="6501384" y="4553712"/>
            <a:ext cx="109728" cy="109728"/>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2552" y="4517136"/>
            <a:ext cx="44805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a:solidFill>
                  <a:srgbClr val="1D1D1B"/>
                </a:solidFill>
                <a:latin typeface="Avenir Next"/>
              </a:rPr>
              <a:t>Signature qualifiée via le service ANSUT</a:t>
            </a:r>
          </a:p>
        </p:txBody>
      </p:sp>
      <p:sp>
        <p:nvSpPr>
          <p:cNvPr id="29" name="Rounded Rectangle 28"/>
          <p:cNvSpPr/>
          <p:nvPr/>
        </p:nvSpPr>
        <p:spPr>
          <a:xfrm>
            <a:off x="6501384" y="4956048"/>
            <a:ext cx="109728" cy="109728"/>
          </a:xfrm>
          <a:prstGeom prst="roundRect">
            <a:avLst>
              <a:gd name="adj" fmla="val 6000"/>
            </a:avLst>
          </a:prstGeom>
          <a:solidFill>
            <a:srgbClr val="1E9E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2552" y="4919472"/>
            <a:ext cx="448056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a:solidFill>
                  <a:srgbClr val="1D1D1B"/>
                </a:solidFill>
                <a:latin typeface="Avenir Next"/>
              </a:rPr>
              <a:t>Décision et preuve de remise scellées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Identité visuelle &amp; positionnement</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L'agence n'est pas un opérateur : une identité neutre</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16</a:t>
            </a:r>
          </a:p>
        </p:txBody>
      </p:sp>
      <p:sp>
        <p:nvSpPr>
          <p:cNvPr id="10" name="TextBox 9"/>
          <p:cNvSpPr txBox="1"/>
          <p:nvPr/>
        </p:nvSpPr>
        <p:spPr>
          <a:xfrm>
            <a:off x="749808" y="1417320"/>
            <a:ext cx="10698480" cy="685800"/>
          </a:xfrm>
          <a:prstGeom prst="rect">
            <a:avLst/>
          </a:prstGeom>
          <a:noFill/>
        </p:spPr>
        <p:txBody>
          <a:bodyPr wrap="square" anchor="t" lIns="0" rIns="0" tIns="0" bIns="0">
            <a:spAutoFit/>
          </a:bodyPr>
          <a:lstStyle/>
          <a:p>
            <a:pPr algn="l">
              <a:lnSpc>
                <a:spcPct val="115000"/>
              </a:lnSpc>
              <a:spcBef>
                <a:spcPts val="0"/>
              </a:spcBef>
              <a:spcAft>
                <a:spcPts val="400"/>
              </a:spcAft>
            </a:pPr>
            <a:r>
              <a:rPr sz="1300" b="0">
                <a:solidFill>
                  <a:srgbClr val="5B6577"/>
                </a:solidFill>
                <a:latin typeface="Avenir Next"/>
              </a:rPr>
              <a:t>La charte ANSUT (bleu + orange) est proche de Moov, et l'orange est celui d'Orange CI. Réponse envisagée : une interface </a:t>
            </a:r>
            <a:r>
              <a:rPr sz="1300" b="1">
                <a:solidFill>
                  <a:srgbClr val="1D1D1B"/>
                </a:solidFill>
                <a:latin typeface="Avenir Next"/>
              </a:rPr>
              <a:t>neutre (achromatique)</a:t>
            </a:r>
            <a:r>
              <a:rPr sz="1300" b="0">
                <a:solidFill>
                  <a:srgbClr val="5B6577"/>
                </a:solidFill>
                <a:latin typeface="Avenir Next"/>
              </a:rPr>
              <a:t> où le logo reste la seule marque et où les opérateurs — chacun à sa couleur — ressortent. Le neutre exprime l'impartialité de l'Agence.</a:t>
            </a:r>
          </a:p>
        </p:txBody>
      </p:sp>
      <p:sp>
        <p:nvSpPr>
          <p:cNvPr id="11" name="Rounded Rectangle 10"/>
          <p:cNvSpPr/>
          <p:nvPr/>
        </p:nvSpPr>
        <p:spPr>
          <a:xfrm>
            <a:off x="874118" y="2505600"/>
            <a:ext cx="4926884" cy="31269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3_verification.png"/>
          <p:cNvPicPr>
            <a:picLocks noChangeAspect="1"/>
          </p:cNvPicPr>
          <p:nvPr/>
        </p:nvPicPr>
        <p:blipFill>
          <a:blip r:embed="rId2"/>
          <a:stretch>
            <a:fillRect/>
          </a:stretch>
        </p:blipFill>
        <p:spPr>
          <a:xfrm>
            <a:off x="883118" y="2514600"/>
            <a:ext cx="4908884" cy="3108960"/>
          </a:xfrm>
          <a:prstGeom prst="rect">
            <a:avLst/>
          </a:prstGeom>
          <a:ln w="9525">
            <a:solidFill>
              <a:srgbClr val="E4E9F1"/>
            </a:solidFill>
          </a:ln>
        </p:spPr>
      </p:pic>
      <p:sp>
        <p:nvSpPr>
          <p:cNvPr id="13" name="Rounded Rectangle 12"/>
          <p:cNvSpPr/>
          <p:nvPr/>
        </p:nvSpPr>
        <p:spPr>
          <a:xfrm>
            <a:off x="6497678" y="2505600"/>
            <a:ext cx="4926884" cy="31269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3b_verification_neutre.png"/>
          <p:cNvPicPr>
            <a:picLocks noChangeAspect="1"/>
          </p:cNvPicPr>
          <p:nvPr/>
        </p:nvPicPr>
        <p:blipFill>
          <a:blip r:embed="rId3"/>
          <a:stretch>
            <a:fillRect/>
          </a:stretch>
        </p:blipFill>
        <p:spPr>
          <a:xfrm>
            <a:off x="6506678" y="2514600"/>
            <a:ext cx="4908884" cy="3108960"/>
          </a:xfrm>
          <a:prstGeom prst="rect">
            <a:avLst/>
          </a:prstGeom>
          <a:ln w="9525">
            <a:solidFill>
              <a:srgbClr val="E4E9F1"/>
            </a:solidFill>
          </a:ln>
        </p:spPr>
      </p:pic>
      <p:sp>
        <p:nvSpPr>
          <p:cNvPr id="15" name="TextBox 14"/>
          <p:cNvSpPr txBox="1"/>
          <p:nvPr/>
        </p:nvSpPr>
        <p:spPr>
          <a:xfrm>
            <a:off x="640080" y="5669280"/>
            <a:ext cx="53949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50" b="1">
                <a:solidFill>
                  <a:srgbClr val="5B6577"/>
                </a:solidFill>
                <a:latin typeface="Avenir Next"/>
              </a:rPr>
              <a:t>Actuel — bleu + orange (charte)</a:t>
            </a:r>
          </a:p>
        </p:txBody>
      </p:sp>
      <p:sp>
        <p:nvSpPr>
          <p:cNvPr id="16" name="TextBox 15"/>
          <p:cNvSpPr txBox="1"/>
          <p:nvPr/>
        </p:nvSpPr>
        <p:spPr>
          <a:xfrm>
            <a:off x="6263640" y="5669280"/>
            <a:ext cx="5394960" cy="365760"/>
          </a:xfrm>
          <a:prstGeom prst="rect">
            <a:avLst/>
          </a:prstGeom>
          <a:noFill/>
        </p:spPr>
        <p:txBody>
          <a:bodyPr wrap="square" anchor="t" lIns="0" rIns="0" tIns="0" bIns="0">
            <a:spAutoFit/>
          </a:bodyPr>
          <a:lstStyle/>
          <a:p>
            <a:pPr algn="ctr">
              <a:lnSpc>
                <a:spcPct val="100000"/>
              </a:lnSpc>
              <a:spcBef>
                <a:spcPts val="0"/>
              </a:spcBef>
              <a:spcAft>
                <a:spcPts val="400"/>
              </a:spcAft>
            </a:pPr>
            <a:r>
              <a:rPr sz="1150" b="1">
                <a:solidFill>
                  <a:srgbClr val="5B6577"/>
                </a:solidFill>
                <a:latin typeface="Avenir Next"/>
              </a:rPr>
              <a:t>Proposé — neutre, opérateurs mis en avant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Périmètre du prototype</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Ce qui est démontré, et ce qui relève d'arbitrages institutionnels</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17</a:t>
            </a:r>
          </a:p>
        </p:txBody>
      </p:sp>
      <p:sp>
        <p:nvSpPr>
          <p:cNvPr id="10" name="Rounded Rectangle 9"/>
          <p:cNvSpPr/>
          <p:nvPr/>
        </p:nvSpPr>
        <p:spPr>
          <a:xfrm>
            <a:off x="749808" y="1554480"/>
            <a:ext cx="5257800" cy="44805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554480"/>
            <a:ext cx="5257800" cy="109728"/>
          </a:xfrm>
          <a:prstGeom prst="rect">
            <a:avLst/>
          </a:prstGeom>
          <a:solidFill>
            <a:srgbClr val="1A43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1828800"/>
            <a:ext cx="4663440" cy="365760"/>
          </a:xfrm>
          <a:prstGeom prst="rect">
            <a:avLst/>
          </a:prstGeom>
          <a:noFill/>
        </p:spPr>
        <p:txBody>
          <a:bodyPr wrap="square" anchor="t" lIns="0" rIns="0" tIns="0" bIns="0">
            <a:spAutoFit/>
          </a:bodyPr>
          <a:lstStyle/>
          <a:p>
            <a:pPr algn="l">
              <a:lnSpc>
                <a:spcPct val="100000"/>
              </a:lnSpc>
              <a:spcBef>
                <a:spcPts val="0"/>
              </a:spcBef>
              <a:spcAft>
                <a:spcPts val="400"/>
              </a:spcAft>
            </a:pPr>
            <a:r>
              <a:rPr sz="1600" b="1">
                <a:solidFill>
                  <a:srgbClr val="1A4382"/>
                </a:solidFill>
                <a:latin typeface="Avenir Next"/>
              </a:rPr>
              <a:t>Démontré par le prototype</a:t>
            </a:r>
          </a:p>
        </p:txBody>
      </p:sp>
      <p:sp>
        <p:nvSpPr>
          <p:cNvPr id="13" name="Rounded Rectangle 12"/>
          <p:cNvSpPr/>
          <p:nvPr/>
        </p:nvSpPr>
        <p:spPr>
          <a:xfrm>
            <a:off x="1042416" y="2404872"/>
            <a:ext cx="182880" cy="182880"/>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2368296"/>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1E9E62"/>
                </a:solidFill>
                <a:latin typeface="Avenir Next"/>
              </a:rPr>
              <a:t>✓</a:t>
            </a:r>
          </a:p>
        </p:txBody>
      </p:sp>
      <p:sp>
        <p:nvSpPr>
          <p:cNvPr id="15" name="TextBox 14"/>
          <p:cNvSpPr txBox="1"/>
          <p:nvPr/>
        </p:nvSpPr>
        <p:spPr>
          <a:xfrm>
            <a:off x="1316736" y="2377440"/>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Parcours complet, de l'enrôlement au reçu</a:t>
            </a:r>
          </a:p>
        </p:txBody>
      </p:sp>
      <p:sp>
        <p:nvSpPr>
          <p:cNvPr id="16" name="Rounded Rectangle 15"/>
          <p:cNvSpPr/>
          <p:nvPr/>
        </p:nvSpPr>
        <p:spPr>
          <a:xfrm>
            <a:off x="1042416" y="3209544"/>
            <a:ext cx="182880" cy="182880"/>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3172968"/>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1E9E62"/>
                </a:solidFill>
                <a:latin typeface="Avenir Next"/>
              </a:rPr>
              <a:t>✓</a:t>
            </a:r>
          </a:p>
        </p:txBody>
      </p:sp>
      <p:sp>
        <p:nvSpPr>
          <p:cNvPr id="18" name="TextBox 17"/>
          <p:cNvSpPr txBox="1"/>
          <p:nvPr/>
        </p:nvSpPr>
        <p:spPr>
          <a:xfrm>
            <a:off x="1316736" y="3182112"/>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Règles métier effectives en base de données</a:t>
            </a:r>
          </a:p>
        </p:txBody>
      </p:sp>
      <p:sp>
        <p:nvSpPr>
          <p:cNvPr id="19" name="Rounded Rectangle 18"/>
          <p:cNvSpPr/>
          <p:nvPr/>
        </p:nvSpPr>
        <p:spPr>
          <a:xfrm>
            <a:off x="1042416" y="4014216"/>
            <a:ext cx="182880" cy="182880"/>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977640"/>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1E9E62"/>
                </a:solidFill>
                <a:latin typeface="Avenir Next"/>
              </a:rPr>
              <a:t>✓</a:t>
            </a:r>
          </a:p>
        </p:txBody>
      </p:sp>
      <p:sp>
        <p:nvSpPr>
          <p:cNvPr id="21" name="TextBox 20"/>
          <p:cNvSpPr txBox="1"/>
          <p:nvPr/>
        </p:nvSpPr>
        <p:spPr>
          <a:xfrm>
            <a:off x="1316736" y="3986784"/>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Journal d'audit inaltérable, décisions figées</a:t>
            </a:r>
          </a:p>
        </p:txBody>
      </p:sp>
      <p:sp>
        <p:nvSpPr>
          <p:cNvPr id="22" name="Rounded Rectangle 21"/>
          <p:cNvSpPr/>
          <p:nvPr/>
        </p:nvSpPr>
        <p:spPr>
          <a:xfrm>
            <a:off x="1042416" y="4818888"/>
            <a:ext cx="182880" cy="182880"/>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4782312"/>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1E9E62"/>
                </a:solidFill>
                <a:latin typeface="Avenir Next"/>
              </a:rPr>
              <a:t>✓</a:t>
            </a:r>
          </a:p>
        </p:txBody>
      </p:sp>
      <p:sp>
        <p:nvSpPr>
          <p:cNvPr id="24" name="TextBox 23"/>
          <p:cNvSpPr txBox="1"/>
          <p:nvPr/>
        </p:nvSpPr>
        <p:spPr>
          <a:xfrm>
            <a:off x="1316736" y="4791456"/>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Points de retrait, stock et cartographie</a:t>
            </a:r>
          </a:p>
        </p:txBody>
      </p:sp>
      <p:sp>
        <p:nvSpPr>
          <p:cNvPr id="25" name="Rounded Rectangle 24"/>
          <p:cNvSpPr/>
          <p:nvPr/>
        </p:nvSpPr>
        <p:spPr>
          <a:xfrm>
            <a:off x="1042416" y="5623560"/>
            <a:ext cx="182880" cy="182880"/>
          </a:xfrm>
          <a:prstGeom prst="roundRect">
            <a:avLst>
              <a:gd name="adj" fmla="val 6000"/>
            </a:avLst>
          </a:prstGeom>
          <a:solidFill>
            <a:srgbClr val="E7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5586984"/>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1E9E62"/>
                </a:solidFill>
                <a:latin typeface="Avenir Next"/>
              </a:rPr>
              <a:t>✓</a:t>
            </a:r>
          </a:p>
        </p:txBody>
      </p:sp>
      <p:sp>
        <p:nvSpPr>
          <p:cNvPr id="27" name="TextBox 26"/>
          <p:cNvSpPr txBox="1"/>
          <p:nvPr/>
        </p:nvSpPr>
        <p:spPr>
          <a:xfrm>
            <a:off x="1316736" y="5596128"/>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Chaîne d'intégration Hub + Cryptologie ANSUT</a:t>
            </a:r>
          </a:p>
        </p:txBody>
      </p:sp>
      <p:sp>
        <p:nvSpPr>
          <p:cNvPr id="28" name="Rounded Rectangle 27"/>
          <p:cNvSpPr/>
          <p:nvPr/>
        </p:nvSpPr>
        <p:spPr>
          <a:xfrm>
            <a:off x="6172200" y="1554480"/>
            <a:ext cx="5257800" cy="448056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1554480"/>
            <a:ext cx="5257800" cy="109728"/>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8" y="1828800"/>
            <a:ext cx="4663440" cy="365760"/>
          </a:xfrm>
          <a:prstGeom prst="rect">
            <a:avLst/>
          </a:prstGeom>
          <a:noFill/>
        </p:spPr>
        <p:txBody>
          <a:bodyPr wrap="square" anchor="t" lIns="0" rIns="0" tIns="0" bIns="0">
            <a:spAutoFit/>
          </a:bodyPr>
          <a:lstStyle/>
          <a:p>
            <a:pPr algn="l">
              <a:lnSpc>
                <a:spcPct val="100000"/>
              </a:lnSpc>
              <a:spcBef>
                <a:spcPts val="0"/>
              </a:spcBef>
              <a:spcAft>
                <a:spcPts val="400"/>
              </a:spcAft>
            </a:pPr>
            <a:r>
              <a:rPr sz="1600" b="1">
                <a:solidFill>
                  <a:srgbClr val="F08224"/>
                </a:solidFill>
                <a:latin typeface="Avenir Next"/>
              </a:rPr>
              <a:t>À raccorder / arbitrer</a:t>
            </a:r>
          </a:p>
        </p:txBody>
      </p:sp>
      <p:sp>
        <p:nvSpPr>
          <p:cNvPr id="31" name="Rounded Rectangle 30"/>
          <p:cNvSpPr/>
          <p:nvPr/>
        </p:nvSpPr>
        <p:spPr>
          <a:xfrm>
            <a:off x="6464808" y="2404872"/>
            <a:ext cx="182880" cy="182880"/>
          </a:xfrm>
          <a:prstGeom prst="roundRect">
            <a:avLst>
              <a:gd name="adj" fmla="val 6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4808" y="2368296"/>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F08224"/>
                </a:solidFill>
                <a:latin typeface="Avenir Next"/>
              </a:rPr>
              <a:t>•</a:t>
            </a:r>
          </a:p>
        </p:txBody>
      </p:sp>
      <p:sp>
        <p:nvSpPr>
          <p:cNvPr id="33" name="TextBox 32"/>
          <p:cNvSpPr txBox="1"/>
          <p:nvPr/>
        </p:nvSpPr>
        <p:spPr>
          <a:xfrm>
            <a:off x="6739128" y="2377440"/>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Accès réels aux référentiels (ONECI, RSU, opérateurs, IMEI) — actuellement SIMULÉS</a:t>
            </a:r>
          </a:p>
        </p:txBody>
      </p:sp>
      <p:sp>
        <p:nvSpPr>
          <p:cNvPr id="34" name="Rounded Rectangle 33"/>
          <p:cNvSpPr/>
          <p:nvPr/>
        </p:nvSpPr>
        <p:spPr>
          <a:xfrm>
            <a:off x="6464808" y="3447287"/>
            <a:ext cx="182880" cy="182880"/>
          </a:xfrm>
          <a:prstGeom prst="roundRect">
            <a:avLst>
              <a:gd name="adj" fmla="val 6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8" y="3410711"/>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F08224"/>
                </a:solidFill>
                <a:latin typeface="Avenir Next"/>
              </a:rPr>
              <a:t>•</a:t>
            </a:r>
          </a:p>
        </p:txBody>
      </p:sp>
      <p:sp>
        <p:nvSpPr>
          <p:cNvPr id="36" name="TextBox 35"/>
          <p:cNvSpPr txBox="1"/>
          <p:nvPr/>
        </p:nvSpPr>
        <p:spPr>
          <a:xfrm>
            <a:off x="6739128" y="3419855"/>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Identifiants des passerelles Hub &amp; Cryptologie</a:t>
            </a:r>
          </a:p>
        </p:txBody>
      </p:sp>
      <p:sp>
        <p:nvSpPr>
          <p:cNvPr id="37" name="Rounded Rectangle 36"/>
          <p:cNvSpPr/>
          <p:nvPr/>
        </p:nvSpPr>
        <p:spPr>
          <a:xfrm>
            <a:off x="6464808" y="4251959"/>
            <a:ext cx="182880" cy="182880"/>
          </a:xfrm>
          <a:prstGeom prst="roundRect">
            <a:avLst>
              <a:gd name="adj" fmla="val 6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8" y="4215383"/>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F08224"/>
                </a:solidFill>
                <a:latin typeface="Avenir Next"/>
              </a:rPr>
              <a:t>•</a:t>
            </a:r>
          </a:p>
        </p:txBody>
      </p:sp>
      <p:sp>
        <p:nvSpPr>
          <p:cNvPr id="39" name="TextBox 38"/>
          <p:cNvSpPr txBox="1"/>
          <p:nvPr/>
        </p:nvSpPr>
        <p:spPr>
          <a:xfrm>
            <a:off x="6739128" y="4224527"/>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Hébergement souverain et homologation</a:t>
            </a:r>
          </a:p>
        </p:txBody>
      </p:sp>
      <p:sp>
        <p:nvSpPr>
          <p:cNvPr id="40" name="Rounded Rectangle 39"/>
          <p:cNvSpPr/>
          <p:nvPr/>
        </p:nvSpPr>
        <p:spPr>
          <a:xfrm>
            <a:off x="6464808" y="5056631"/>
            <a:ext cx="182880" cy="182880"/>
          </a:xfrm>
          <a:prstGeom prst="roundRect">
            <a:avLst>
              <a:gd name="adj" fmla="val 6000"/>
            </a:avLst>
          </a:prstGeom>
          <a:solidFill>
            <a:srgbClr val="FD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8" y="5020055"/>
            <a:ext cx="182880" cy="219456"/>
          </a:xfrm>
          <a:prstGeom prst="rect">
            <a:avLst/>
          </a:prstGeom>
          <a:noFill/>
        </p:spPr>
        <p:txBody>
          <a:bodyPr wrap="square" anchor="t" lIns="0" rIns="0" tIns="0" bIns="0">
            <a:spAutoFit/>
          </a:bodyPr>
          <a:lstStyle/>
          <a:p>
            <a:pPr algn="ctr">
              <a:lnSpc>
                <a:spcPct val="100000"/>
              </a:lnSpc>
              <a:spcBef>
                <a:spcPts val="0"/>
              </a:spcBef>
              <a:spcAft>
                <a:spcPts val="400"/>
              </a:spcAft>
            </a:pPr>
            <a:r>
              <a:rPr sz="1000" b="1">
                <a:solidFill>
                  <a:srgbClr val="F08224"/>
                </a:solidFill>
                <a:latin typeface="Avenir Next"/>
              </a:rPr>
              <a:t>•</a:t>
            </a:r>
          </a:p>
        </p:txBody>
      </p:sp>
      <p:sp>
        <p:nvSpPr>
          <p:cNvPr id="42" name="TextBox 41"/>
          <p:cNvSpPr txBox="1"/>
          <p:nvPr/>
        </p:nvSpPr>
        <p:spPr>
          <a:xfrm>
            <a:off x="6739128" y="5029199"/>
            <a:ext cx="4434840" cy="640080"/>
          </a:xfrm>
          <a:prstGeom prst="rect">
            <a:avLst/>
          </a:prstGeom>
          <a:noFill/>
        </p:spPr>
        <p:txBody>
          <a:bodyPr wrap="square" anchor="t" lIns="0" rIns="0" tIns="0" bIns="0">
            <a:spAutoFit/>
          </a:bodyPr>
          <a:lstStyle/>
          <a:p>
            <a:pPr algn="l">
              <a:lnSpc>
                <a:spcPct val="108000"/>
              </a:lnSpc>
              <a:spcBef>
                <a:spcPts val="0"/>
              </a:spcBef>
              <a:spcAft>
                <a:spcPts val="400"/>
              </a:spcAft>
            </a:pPr>
            <a:r>
              <a:rPr sz="1250" b="0">
                <a:solidFill>
                  <a:srgbClr val="1D1D1B"/>
                </a:solidFill>
                <a:latin typeface="Avenir Next"/>
              </a:rPr>
              <a:t>Chaîne de preuve matérielle (scan IMEI, GPS certifié)</a:t>
            </a:r>
          </a:p>
        </p:txBody>
      </p:sp>
      <p:sp>
        <p:nvSpPr>
          <p:cNvPr id="43" name="TextBox 42"/>
          <p:cNvSpPr txBox="1"/>
          <p:nvPr/>
        </p:nvSpPr>
        <p:spPr>
          <a:xfrm>
            <a:off x="749808" y="617220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a:solidFill>
                  <a:srgbClr val="878787"/>
                </a:solidFill>
                <a:latin typeface="Avenir Next"/>
              </a:rPr>
              <a:t>Toutes les vérifications aux référentiels portent le badge « SIMULÉ » : aucune donnée réelle n'est traitée dans ce prototype.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70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10896"/>
            <a:ext cx="109728" cy="566928"/>
          </a:xfrm>
          <a:prstGeom prst="rect">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74320"/>
            <a:ext cx="10789920" cy="274320"/>
          </a:xfrm>
          <a:prstGeom prst="rect">
            <a:avLst/>
          </a:prstGeom>
          <a:noFill/>
        </p:spPr>
        <p:txBody>
          <a:bodyPr wrap="square" anchor="t" lIns="0" rIns="0" tIns="0" bIns="0">
            <a:spAutoFit/>
          </a:bodyPr>
          <a:lstStyle/>
          <a:p>
            <a:pPr algn="l">
              <a:lnSpc>
                <a:spcPct val="100000"/>
              </a:lnSpc>
              <a:spcBef>
                <a:spcPts val="0"/>
              </a:spcBef>
              <a:spcAft>
                <a:spcPts val="400"/>
              </a:spcAft>
            </a:pPr>
            <a:r>
              <a:rPr sz="1100" b="1">
                <a:solidFill>
                  <a:srgbClr val="F08224"/>
                </a:solidFill>
                <a:latin typeface="Avenir Next"/>
              </a:rPr>
              <a:t>Prochaines étapes</a:t>
            </a:r>
          </a:p>
        </p:txBody>
      </p:sp>
      <p:sp>
        <p:nvSpPr>
          <p:cNvPr id="6" name="TextBox 5"/>
          <p:cNvSpPr txBox="1"/>
          <p:nvPr/>
        </p:nvSpPr>
        <p:spPr>
          <a:xfrm>
            <a:off x="749808" y="502920"/>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a:solidFill>
                  <a:srgbClr val="1A4382"/>
                </a:solidFill>
                <a:latin typeface="Avenir Next"/>
              </a:rPr>
              <a:t>Du prototype au pilote</a:t>
            </a:r>
          </a:p>
        </p:txBody>
      </p:sp>
      <p:sp>
        <p:nvSpPr>
          <p:cNvPr id="7" name="Rectangle 6"/>
          <p:cNvSpPr/>
          <p:nvPr/>
        </p:nvSpPr>
        <p:spPr>
          <a:xfrm>
            <a:off x="0" y="1200912"/>
            <a:ext cx="12191695" cy="565708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a:solidFill>
                  <a:srgbClr val="878787"/>
                </a:solidFill>
                <a:latin typeface="Avenir Next"/>
              </a:rPr>
              <a:t>ANSUT · Programme d'Accès aux Smartphones Subventionnés</a:t>
            </a:r>
          </a:p>
        </p:txBody>
      </p:sp>
      <p:sp>
        <p:nvSpPr>
          <p:cNvPr id="9" name="TextBox 8"/>
          <p:cNvSpPr txBox="1"/>
          <p:nvPr/>
        </p:nvSpPr>
        <p:spPr>
          <a:xfrm>
            <a:off x="10607040" y="6455664"/>
            <a:ext cx="1097280"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a:solidFill>
                  <a:srgbClr val="878787"/>
                </a:solidFill>
                <a:latin typeface="Avenir Next"/>
              </a:rPr>
              <a:t>18</a:t>
            </a:r>
          </a:p>
        </p:txBody>
      </p:sp>
      <p:sp>
        <p:nvSpPr>
          <p:cNvPr id="10" name="Rounded Rectangle 9"/>
          <p:cNvSpPr/>
          <p:nvPr/>
        </p:nvSpPr>
        <p:spPr>
          <a:xfrm>
            <a:off x="749808" y="1737360"/>
            <a:ext cx="10698480" cy="9144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1956816"/>
            <a:ext cx="475488" cy="475488"/>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011680"/>
            <a:ext cx="475488"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FFFFFF"/>
                </a:solidFill>
                <a:latin typeface="Avenir Next"/>
              </a:rPr>
              <a:t>1</a:t>
            </a:r>
          </a:p>
        </p:txBody>
      </p:sp>
      <p:sp>
        <p:nvSpPr>
          <p:cNvPr id="13" name="TextBox 12"/>
          <p:cNvSpPr txBox="1"/>
          <p:nvPr/>
        </p:nvSpPr>
        <p:spPr>
          <a:xfrm>
            <a:off x="1691640" y="1920240"/>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500" b="1">
                <a:solidFill>
                  <a:srgbClr val="1A4382"/>
                </a:solidFill>
                <a:latin typeface="Avenir Next"/>
              </a:rPr>
              <a:t>Conventions d'accès</a:t>
            </a:r>
          </a:p>
        </p:txBody>
      </p:sp>
      <p:sp>
        <p:nvSpPr>
          <p:cNvPr id="14" name="TextBox 13"/>
          <p:cNvSpPr txBox="1"/>
          <p:nvPr/>
        </p:nvSpPr>
        <p:spPr>
          <a:xfrm>
            <a:off x="4754880" y="1901952"/>
            <a:ext cx="6492240" cy="640080"/>
          </a:xfrm>
          <a:prstGeom prst="rect">
            <a:avLst/>
          </a:prstGeom>
          <a:noFill/>
        </p:spPr>
        <p:txBody>
          <a:bodyPr wrap="square" anchor="ctr" lIns="0" rIns="0" tIns="0" bIns="0">
            <a:spAutoFit/>
          </a:bodyPr>
          <a:lstStyle/>
          <a:p>
            <a:pPr algn="l">
              <a:lnSpc>
                <a:spcPct val="110000"/>
              </a:lnSpc>
              <a:spcBef>
                <a:spcPts val="0"/>
              </a:spcBef>
              <a:spcAft>
                <a:spcPts val="400"/>
              </a:spcAft>
            </a:pPr>
            <a:r>
              <a:rPr sz="1250" b="0">
                <a:solidFill>
                  <a:srgbClr val="5B6577"/>
                </a:solidFill>
                <a:latin typeface="Avenir Next"/>
              </a:rPr>
              <a:t>Signer les accès ONECI, RSU et opérateurs pour passer les vérifications en réel.</a:t>
            </a:r>
          </a:p>
        </p:txBody>
      </p:sp>
      <p:sp>
        <p:nvSpPr>
          <p:cNvPr id="15" name="Rounded Rectangle 14"/>
          <p:cNvSpPr/>
          <p:nvPr/>
        </p:nvSpPr>
        <p:spPr>
          <a:xfrm>
            <a:off x="749808" y="2816352"/>
            <a:ext cx="10698480" cy="9144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035808"/>
            <a:ext cx="475488" cy="475488"/>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090672"/>
            <a:ext cx="475488"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FFFFFF"/>
                </a:solidFill>
                <a:latin typeface="Avenir Next"/>
              </a:rPr>
              <a:t>2</a:t>
            </a:r>
          </a:p>
        </p:txBody>
      </p:sp>
      <p:sp>
        <p:nvSpPr>
          <p:cNvPr id="18" name="TextBox 17"/>
          <p:cNvSpPr txBox="1"/>
          <p:nvPr/>
        </p:nvSpPr>
        <p:spPr>
          <a:xfrm>
            <a:off x="1691640" y="2999232"/>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500" b="1">
                <a:solidFill>
                  <a:srgbClr val="1A4382"/>
                </a:solidFill>
                <a:latin typeface="Avenir Next"/>
              </a:rPr>
              <a:t>Passerelles ANSUT</a:t>
            </a:r>
          </a:p>
        </p:txBody>
      </p:sp>
      <p:sp>
        <p:nvSpPr>
          <p:cNvPr id="19" name="TextBox 18"/>
          <p:cNvSpPr txBox="1"/>
          <p:nvPr/>
        </p:nvSpPr>
        <p:spPr>
          <a:xfrm>
            <a:off x="4754880" y="2980944"/>
            <a:ext cx="6492240" cy="640080"/>
          </a:xfrm>
          <a:prstGeom prst="rect">
            <a:avLst/>
          </a:prstGeom>
          <a:noFill/>
        </p:spPr>
        <p:txBody>
          <a:bodyPr wrap="square" anchor="ctr" lIns="0" rIns="0" tIns="0" bIns="0">
            <a:spAutoFit/>
          </a:bodyPr>
          <a:lstStyle/>
          <a:p>
            <a:pPr algn="l">
              <a:lnSpc>
                <a:spcPct val="110000"/>
              </a:lnSpc>
              <a:spcBef>
                <a:spcPts val="0"/>
              </a:spcBef>
              <a:spcAft>
                <a:spcPts val="400"/>
              </a:spcAft>
            </a:pPr>
            <a:r>
              <a:rPr sz="1250" b="0">
                <a:solidFill>
                  <a:srgbClr val="5B6577"/>
                </a:solidFill>
                <a:latin typeface="Avenir Next"/>
              </a:rPr>
              <a:t>Fournir les identifiants Hub (messagerie) et Cryptologie (cachet) : bascule immédiate en mode réel.</a:t>
            </a:r>
          </a:p>
        </p:txBody>
      </p:sp>
      <p:sp>
        <p:nvSpPr>
          <p:cNvPr id="20" name="Rounded Rectangle 19"/>
          <p:cNvSpPr/>
          <p:nvPr/>
        </p:nvSpPr>
        <p:spPr>
          <a:xfrm>
            <a:off x="749808" y="3895344"/>
            <a:ext cx="10698480" cy="9144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5840" y="4114800"/>
            <a:ext cx="475488" cy="475488"/>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169664"/>
            <a:ext cx="475488"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FFFFFF"/>
                </a:solidFill>
                <a:latin typeface="Avenir Next"/>
              </a:rPr>
              <a:t>3</a:t>
            </a:r>
          </a:p>
        </p:txBody>
      </p:sp>
      <p:sp>
        <p:nvSpPr>
          <p:cNvPr id="23" name="TextBox 22"/>
          <p:cNvSpPr txBox="1"/>
          <p:nvPr/>
        </p:nvSpPr>
        <p:spPr>
          <a:xfrm>
            <a:off x="1691640" y="4078224"/>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500" b="1">
                <a:solidFill>
                  <a:srgbClr val="1A4382"/>
                </a:solidFill>
                <a:latin typeface="Avenir Next"/>
              </a:rPr>
              <a:t>Hébergement souverain</a:t>
            </a:r>
          </a:p>
        </p:txBody>
      </p:sp>
      <p:sp>
        <p:nvSpPr>
          <p:cNvPr id="24" name="TextBox 23"/>
          <p:cNvSpPr txBox="1"/>
          <p:nvPr/>
        </p:nvSpPr>
        <p:spPr>
          <a:xfrm>
            <a:off x="4754880" y="4059936"/>
            <a:ext cx="6492240" cy="640080"/>
          </a:xfrm>
          <a:prstGeom prst="rect">
            <a:avLst/>
          </a:prstGeom>
          <a:noFill/>
        </p:spPr>
        <p:txBody>
          <a:bodyPr wrap="square" anchor="ctr" lIns="0" rIns="0" tIns="0" bIns="0">
            <a:spAutoFit/>
          </a:bodyPr>
          <a:lstStyle/>
          <a:p>
            <a:pPr algn="l">
              <a:lnSpc>
                <a:spcPct val="110000"/>
              </a:lnSpc>
              <a:spcBef>
                <a:spcPts val="0"/>
              </a:spcBef>
              <a:spcAft>
                <a:spcPts val="400"/>
              </a:spcAft>
            </a:pPr>
            <a:r>
              <a:rPr sz="1250" b="0">
                <a:solidFill>
                  <a:srgbClr val="5B6577"/>
                </a:solidFill>
                <a:latin typeface="Avenir Next"/>
              </a:rPr>
              <a:t>Héberger et homologuer la plateforme selon les exigences de l'État.</a:t>
            </a:r>
          </a:p>
        </p:txBody>
      </p:sp>
      <p:sp>
        <p:nvSpPr>
          <p:cNvPr id="25" name="Rounded Rectangle 24"/>
          <p:cNvSpPr/>
          <p:nvPr/>
        </p:nvSpPr>
        <p:spPr>
          <a:xfrm>
            <a:off x="749808" y="4974336"/>
            <a:ext cx="10698480" cy="914400"/>
          </a:xfrm>
          <a:prstGeom prst="roundRect">
            <a:avLst>
              <a:gd name="adj" fmla="val 6000"/>
            </a:avLst>
          </a:prstGeom>
          <a:solidFill>
            <a:srgbClr val="FFFFFF"/>
          </a:solidFill>
          <a:ln w="12700">
            <a:solidFill>
              <a:srgbClr val="E4E9F1"/>
            </a:solidFill>
          </a:ln>
          <a:effectLst/>
          <a:effectLst>
            <a:outerShdw blurRad="90000" dist="40000" dir="5400000" rotWithShape="0">
              <a:srgbClr val="14315C">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5840" y="5193792"/>
            <a:ext cx="475488" cy="475488"/>
          </a:xfrm>
          <a:prstGeom prst="roundRect">
            <a:avLst>
              <a:gd name="adj" fmla="val 50000"/>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248656"/>
            <a:ext cx="475488" cy="384048"/>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FFFFFF"/>
                </a:solidFill>
                <a:latin typeface="Avenir Next"/>
              </a:rPr>
              <a:t>4</a:t>
            </a:r>
          </a:p>
        </p:txBody>
      </p:sp>
      <p:sp>
        <p:nvSpPr>
          <p:cNvPr id="28" name="TextBox 27"/>
          <p:cNvSpPr txBox="1"/>
          <p:nvPr/>
        </p:nvSpPr>
        <p:spPr>
          <a:xfrm>
            <a:off x="1691640" y="5157216"/>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500" b="1">
                <a:solidFill>
                  <a:srgbClr val="1A4382"/>
                </a:solidFill>
                <a:latin typeface="Avenir Next"/>
              </a:rPr>
              <a:t>Pilote terrain</a:t>
            </a:r>
          </a:p>
        </p:txBody>
      </p:sp>
      <p:sp>
        <p:nvSpPr>
          <p:cNvPr id="29" name="TextBox 28"/>
          <p:cNvSpPr txBox="1"/>
          <p:nvPr/>
        </p:nvSpPr>
        <p:spPr>
          <a:xfrm>
            <a:off x="4754880" y="5138928"/>
            <a:ext cx="6492240" cy="640080"/>
          </a:xfrm>
          <a:prstGeom prst="rect">
            <a:avLst/>
          </a:prstGeom>
          <a:noFill/>
        </p:spPr>
        <p:txBody>
          <a:bodyPr wrap="square" anchor="ctr" lIns="0" rIns="0" tIns="0" bIns="0">
            <a:spAutoFit/>
          </a:bodyPr>
          <a:lstStyle/>
          <a:p>
            <a:pPr algn="l">
              <a:lnSpc>
                <a:spcPct val="110000"/>
              </a:lnSpc>
              <a:spcBef>
                <a:spcPts val="0"/>
              </a:spcBef>
              <a:spcAft>
                <a:spcPts val="400"/>
              </a:spcAft>
            </a:pPr>
            <a:r>
              <a:rPr sz="1250" b="0">
                <a:solidFill>
                  <a:srgbClr val="5B6577"/>
                </a:solidFill>
                <a:latin typeface="Avenir Next"/>
              </a:rPr>
              <a:t>Déployer sur un centre pilote, mesurer délais et inclusion, puis étendre.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56616" y="6176407"/>
            <a:ext cx="179222" cy="179222"/>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30245" y="6188853"/>
            <a:ext cx="179222" cy="179222"/>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8729" y="6225714"/>
            <a:ext cx="179222" cy="179222"/>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60" y="6285574"/>
            <a:ext cx="179222" cy="179222"/>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420" y="6366131"/>
            <a:ext cx="179222" cy="179222"/>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1977" y="6464291"/>
            <a:ext cx="179222" cy="179222"/>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1837" y="6576280"/>
            <a:ext cx="179222" cy="179222"/>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8698" y="6697796"/>
            <a:ext cx="179222" cy="179222"/>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1144" y="6824167"/>
            <a:ext cx="179222" cy="179222"/>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6616" y="5634899"/>
            <a:ext cx="249631" cy="249631"/>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8338" y="5656397"/>
            <a:ext cx="249631" cy="249631"/>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553" y="5720067"/>
            <a:ext cx="249631" cy="249631"/>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64989" y="5823461"/>
            <a:ext cx="249631" cy="249631"/>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4537" y="5962605"/>
            <a:ext cx="249631" cy="249631"/>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3681" y="6132153"/>
            <a:ext cx="249631" cy="249631"/>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7075" y="6325589"/>
            <a:ext cx="249631" cy="249631"/>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0745" y="6535480"/>
            <a:ext cx="249631" cy="249631"/>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62243" y="6753758"/>
            <a:ext cx="249631" cy="249631"/>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6616" y="5093391"/>
            <a:ext cx="320040" cy="32004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431" y="5123941"/>
            <a:ext cx="320040" cy="32004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1834" y="5214419"/>
            <a:ext cx="320040" cy="32004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6717" y="5361347"/>
            <a:ext cx="320040" cy="32004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67654" y="5559079"/>
            <a:ext cx="320040" cy="32004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5386" y="5800016"/>
            <a:ext cx="320040" cy="32004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2314" y="6074899"/>
            <a:ext cx="320040" cy="320040"/>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202792" y="6373164"/>
            <a:ext cx="320040" cy="32004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33342" y="6683349"/>
            <a:ext cx="320040" cy="320040"/>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6616" y="4551884"/>
            <a:ext cx="390448" cy="390448"/>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476" y="4591487"/>
            <a:ext cx="390448" cy="390448"/>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32116" y="4708773"/>
            <a:ext cx="390448" cy="390448"/>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8446" y="4899235"/>
            <a:ext cx="390448" cy="390448"/>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00771" y="5155554"/>
            <a:ext cx="390448" cy="390448"/>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57090" y="5467879"/>
            <a:ext cx="390448" cy="390448"/>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47552" y="5824209"/>
            <a:ext cx="390448" cy="390448"/>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664838" y="6210849"/>
            <a:ext cx="390448" cy="390448"/>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704441" y="6612941"/>
            <a:ext cx="390448" cy="390448"/>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6616" y="4010376"/>
            <a:ext cx="460857" cy="460857"/>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7383" y="4059031"/>
            <a:ext cx="460857" cy="460857"/>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12398" y="4203125"/>
            <a:ext cx="460857" cy="460857"/>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50174" y="4437121"/>
            <a:ext cx="460857" cy="460857"/>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433889" y="4752027"/>
            <a:ext cx="460857" cy="460857"/>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748795" y="5135742"/>
            <a:ext cx="460857" cy="460857"/>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982791" y="5573518"/>
            <a:ext cx="460857" cy="460857"/>
          </a:xfrm>
          <a:prstGeom prst="ellipse">
            <a:avLst/>
          </a:prstGeom>
          <a:solidFill>
            <a:srgbClr val="225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126885" y="6048533"/>
            <a:ext cx="460857" cy="460857"/>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175540" y="6542532"/>
            <a:ext cx="460857" cy="460857"/>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4400" y="5486400"/>
            <a:ext cx="5486400" cy="2011680"/>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55878" y="1617904"/>
            <a:ext cx="30723" cy="307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77541" y="1620037"/>
            <a:ext cx="30723" cy="307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98372" y="1626357"/>
            <a:ext cx="30723" cy="307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17571" y="1636618"/>
            <a:ext cx="30723" cy="307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34398" y="1650428"/>
            <a:ext cx="30723" cy="307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48208" y="1667255"/>
            <a:ext cx="30723" cy="307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58469" y="1686454"/>
            <a:ext cx="30723" cy="3072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64789" y="1707285"/>
            <a:ext cx="30723" cy="30723"/>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66922" y="1728948"/>
            <a:ext cx="30723" cy="30723"/>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55878" y="1525074"/>
            <a:ext cx="42793" cy="427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93297" y="1528759"/>
            <a:ext cx="42793" cy="427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929278" y="1539674"/>
            <a:ext cx="42793" cy="427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62438" y="1557399"/>
            <a:ext cx="42793" cy="427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91504" y="1581252"/>
            <a:ext cx="42793" cy="427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15357" y="1610318"/>
            <a:ext cx="42793" cy="427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33082" y="1643478"/>
            <a:ext cx="42793" cy="4279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43997" y="1679459"/>
            <a:ext cx="42793" cy="42793"/>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47682" y="1716878"/>
            <a:ext cx="42793" cy="42793"/>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55878" y="1432243"/>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09052" y="1437480"/>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960183" y="1452991"/>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07306" y="1478179"/>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048610" y="1512075"/>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082506" y="1553379"/>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107694" y="1600502"/>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23205" y="1651633"/>
            <a:ext cx="54864" cy="54864"/>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28442" y="1704807"/>
            <a:ext cx="54864" cy="54864"/>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55878" y="1339413"/>
            <a:ext cx="66934" cy="6693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24808" y="1346202"/>
            <a:ext cx="66934" cy="6693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91089" y="1366309"/>
            <a:ext cx="66934" cy="6693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52174" y="1398959"/>
            <a:ext cx="66934" cy="6693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105715" y="1442900"/>
            <a:ext cx="66934" cy="6693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149656" y="1496441"/>
            <a:ext cx="66934" cy="6693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182306" y="1557526"/>
            <a:ext cx="66934" cy="6693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202413" y="1623807"/>
            <a:ext cx="66934" cy="66934"/>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09202" y="1692737"/>
            <a:ext cx="66934" cy="66934"/>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55878" y="1246584"/>
            <a:ext cx="79004" cy="790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940563" y="1254924"/>
            <a:ext cx="79004" cy="790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021994" y="1279626"/>
            <a:ext cx="79004" cy="790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097042" y="1319740"/>
            <a:ext cx="79004" cy="790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162821" y="1373724"/>
            <a:ext cx="79004" cy="790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16805" y="1439503"/>
            <a:ext cx="79004" cy="790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56919" y="1514551"/>
            <a:ext cx="79004" cy="790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281621" y="1595982"/>
            <a:ext cx="79004" cy="79004"/>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289961" y="1680667"/>
            <a:ext cx="79004" cy="79004"/>
          </a:xfrm>
          <a:prstGeom prst="ellipse">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613001" y="1258215"/>
            <a:ext cx="5486400" cy="548640"/>
          </a:xfrm>
          <a:prstGeom prst="rect">
            <a:avLst/>
          </a:prstGeom>
          <a:noFill/>
        </p:spPr>
        <p:txBody>
          <a:bodyPr wrap="square" anchor="t" lIns="0" rIns="0" tIns="0" bIns="0">
            <a:spAutoFit/>
          </a:bodyPr>
          <a:lstStyle/>
          <a:p>
            <a:pPr algn="l">
              <a:lnSpc>
                <a:spcPct val="100000"/>
              </a:lnSpc>
              <a:spcBef>
                <a:spcPts val="0"/>
              </a:spcBef>
              <a:spcAft>
                <a:spcPts val="400"/>
              </a:spcAft>
            </a:pPr>
            <a:r>
              <a:rPr sz="3120" b="1">
                <a:solidFill>
                  <a:srgbClr val="FFFFFF"/>
                </a:solidFill>
                <a:latin typeface="Avenir Next"/>
              </a:rPr>
              <a:t>ANSUT</a:t>
            </a:r>
          </a:p>
        </p:txBody>
      </p:sp>
      <p:sp>
        <p:nvSpPr>
          <p:cNvPr id="95" name="TextBox 94"/>
          <p:cNvSpPr txBox="1"/>
          <p:nvPr/>
        </p:nvSpPr>
        <p:spPr>
          <a:xfrm>
            <a:off x="822960" y="2926080"/>
            <a:ext cx="10515600" cy="1280160"/>
          </a:xfrm>
          <a:prstGeom prst="rect">
            <a:avLst/>
          </a:prstGeom>
          <a:noFill/>
        </p:spPr>
        <p:txBody>
          <a:bodyPr wrap="square" anchor="t" lIns="0" rIns="0" tIns="0" bIns="0">
            <a:spAutoFit/>
          </a:bodyPr>
          <a:lstStyle/>
          <a:p>
            <a:pPr algn="l">
              <a:lnSpc>
                <a:spcPct val="103000"/>
              </a:lnSpc>
              <a:spcBef>
                <a:spcPts val="0"/>
              </a:spcBef>
              <a:spcAft>
                <a:spcPts val="400"/>
              </a:spcAft>
            </a:pPr>
            <a:r>
              <a:rPr sz="3400" b="1">
                <a:solidFill>
                  <a:srgbClr val="FFFFFF"/>
                </a:solidFill>
                <a:latin typeface="Avenir Next"/>
              </a:rPr>
              <a:t>Programme d'Accès aux Smartphones</a:t>
            </a:r>
          </a:p>
          <a:p>
            <a:pPr algn="l">
              <a:lnSpc>
                <a:spcPct val="103000"/>
              </a:lnSpc>
              <a:spcBef>
                <a:spcPts val="0"/>
              </a:spcBef>
              <a:spcAft>
                <a:spcPts val="400"/>
              </a:spcAft>
            </a:pPr>
            <a:r>
              <a:rPr sz="3400" b="1">
                <a:solidFill>
                  <a:srgbClr val="FFFFFF"/>
                </a:solidFill>
                <a:latin typeface="Avenir Next"/>
              </a:rPr>
              <a:t>Subventionnés</a:t>
            </a:r>
          </a:p>
        </p:txBody>
      </p:sp>
      <p:sp>
        <p:nvSpPr>
          <p:cNvPr id="96" name="Rectangle 95"/>
          <p:cNvSpPr/>
          <p:nvPr/>
        </p:nvSpPr>
        <p:spPr>
          <a:xfrm>
            <a:off x="868680" y="4343400"/>
            <a:ext cx="2743200" cy="30480"/>
          </a:xfrm>
          <a:prstGeom prst="rect">
            <a:avLst/>
          </a:prstGeom>
          <a:solidFill>
            <a:srgbClr val="F08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68680" y="4572000"/>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0">
                <a:solidFill>
                  <a:srgbClr val="DBE7F7"/>
                </a:solidFill>
                <a:latin typeface="Avenir Next"/>
              </a:rPr>
              <a:t>Une plateforme au service de l'inclusion numérique — vérifiée, prouvée, inclusive.</a:t>
            </a:r>
          </a:p>
        </p:txBody>
      </p:sp>
      <p:sp>
        <p:nvSpPr>
          <p:cNvPr id="98" name="TextBox 97"/>
          <p:cNvSpPr txBox="1"/>
          <p:nvPr/>
        </p:nvSpPr>
        <p:spPr>
          <a:xfrm>
            <a:off x="868680" y="5852160"/>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100" b="0">
                <a:solidFill>
                  <a:srgbClr val="9FB3D4"/>
                </a:solidFill>
                <a:latin typeface="Avenir Next"/>
              </a:rPr>
              <a:t>ANSUT · Agence Nationale du Service Universel des Télécommunications/TIC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